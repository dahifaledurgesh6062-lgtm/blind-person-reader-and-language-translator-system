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0" roundtripDataSignature="AMtx7mjhOMVg3tl7ZB8pT8ltv/TUMkTqO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BE4A156-D856-4294-9C9A-E00CE88E0922}">
  <a:tblStyle styleId="{2BE4A156-D856-4294-9C9A-E00CE88E0922}"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b="off" i="off"/>
      <a:tcStyle>
        <a:tcBdr/>
        <a:fill>
          <a:solidFill>
            <a:srgbClr val="CDD4EA"/>
          </a:solidFill>
        </a:fill>
      </a:tcStyle>
    </a:band1H>
    <a:band2H>
      <a:tcTxStyle b="off" i="off"/>
      <a:tcStyle>
        <a:tcBdr/>
      </a:tcStyle>
    </a:band2H>
    <a:band1V>
      <a:tcTxStyle b="off" i="off"/>
      <a:tcStyle>
        <a:tcBdr/>
        <a:fill>
          <a:solidFill>
            <a:srgbClr val="CDD4EA"/>
          </a:solidFill>
        </a:fill>
      </a:tcStyle>
    </a:band1V>
    <a:band2V>
      <a:tcTxStyle b="off" i="off"/>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40"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1" name="Google Shape;9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3" name="Google Shape;10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0" name="Google Shape;110;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9" name="Google Shape;119;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5" name="Google Shape;12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1" name="Google Shape;131;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7" name="Google Shape;137;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3" name="Google Shape;143;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9" name="Google Shape;14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5" name="Google Shape;155;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1" name="Google Shape;16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7" name="Google Shape;167;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3" name="Google Shape;173;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9" name="Google Shape;179;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5" name="Google Shape;185;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1" name="Google Shape;191;p1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7" name="Google Shape;197;p1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3" name="Google Shape;203;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9" name="Google Shape;209;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5" name="Google Shape;215;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2" name="Google Shape;222;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9" name="Google Shape;229;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6" name="Google Shape;236;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2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2" name="Google Shape;242;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2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0" name="Google Shape;250;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2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9" name="Google Shape;259;p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8" name="Google Shape;268;p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5" name="Google Shape;275;p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83" name="Google Shape;283;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90" name="Google Shape;290;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97" name="Google Shape;297;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p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04" name="Google Shape;304;p3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3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3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3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3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3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3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3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3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3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3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3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3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3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3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3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3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3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3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3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3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3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3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3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3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3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3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4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4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4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4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4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4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4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4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4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4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4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4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4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4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43"/>
          <p:cNvSpPr>
            <a:spLocks noGrp="1"/>
          </p:cNvSpPr>
          <p:nvPr>
            <p:ph type="pic" idx="2"/>
          </p:nvPr>
        </p:nvSpPr>
        <p:spPr>
          <a:xfrm>
            <a:off x="5183188" y="987425"/>
            <a:ext cx="6172200" cy="4873625"/>
          </a:xfrm>
          <a:prstGeom prst="rect">
            <a:avLst/>
          </a:prstGeom>
          <a:noFill/>
          <a:ln>
            <a:noFill/>
          </a:ln>
        </p:spPr>
      </p:sp>
      <p:sp>
        <p:nvSpPr>
          <p:cNvPr id="64" name="Google Shape;64;p4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4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4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4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4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4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4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4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4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4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4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4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4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4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3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3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about:blank" TargetMode="External"/><Relationship Id="rId7" Type="http://schemas.openxmlformats.org/officeDocument/2006/relationships/hyperlink" Target="https://ieeexplore.ieee.org/abstract/document/8487513" TargetMode="External"/><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hyperlink" Target="https://ieeexplore.ieee.org/abstract/document/7919526" TargetMode="External"/><Relationship Id="rId5" Type="http://schemas.openxmlformats.org/officeDocument/2006/relationships/hyperlink" Target="https://doi.org/10.3991/ijim.v15i19.24139" TargetMode="External"/><Relationship Id="rId4" Type="http://schemas.openxmlformats.org/officeDocument/2006/relationships/hyperlink" Target="mailto:wanghaifeng%7D@baidu.com" TargetMode="External"/></Relationships>
</file>

<file path=ppt/slides/_rels/slide32.xml.rels><?xml version="1.0" encoding="UTF-8" standalone="yes"?>
<Relationships xmlns="http://schemas.openxmlformats.org/package/2006/relationships"><Relationship Id="rId3" Type="http://schemas.openxmlformats.org/officeDocument/2006/relationships/hyperlink" Target="https://ieeexplore.ieee.org/abstract/document/10664121" TargetMode="External"/><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hyperlink" Target="https://ieeexplore.ieee.org/abstract/document/10113042" TargetMode="External"/><Relationship Id="rId5" Type="http://schemas.openxmlformats.org/officeDocument/2006/relationships/hyperlink" Target="https://ieeexplore.ieee.org/abstract/document/9074948" TargetMode="External"/><Relationship Id="rId4" Type="http://schemas.openxmlformats.org/officeDocument/2006/relationships/hyperlink" Target="https://ieeexplore.ieee.org/abstract/document/10991202" TargetMode="Externa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p:nvPr/>
        </p:nvSpPr>
        <p:spPr>
          <a:xfrm>
            <a:off x="647873" y="2093761"/>
            <a:ext cx="10740900" cy="2201100"/>
          </a:xfrm>
          <a:prstGeom prst="rect">
            <a:avLst/>
          </a:prstGeom>
          <a:noFill/>
          <a:ln>
            <a:noFill/>
          </a:ln>
        </p:spPr>
        <p:txBody>
          <a:bodyPr spcFirstLastPara="1" wrap="square" lIns="91425" tIns="45700" rIns="91425" bIns="45700" anchor="t" anchorCtr="0">
            <a:spAutoFit/>
          </a:bodyPr>
          <a:lstStyle/>
          <a:p>
            <a:pPr marL="0" marR="0" lvl="0" indent="0" algn="ctr" rtl="0">
              <a:lnSpc>
                <a:spcPct val="150000"/>
              </a:lnSpc>
              <a:spcBef>
                <a:spcPts val="0"/>
              </a:spcBef>
              <a:spcAft>
                <a:spcPts val="0"/>
              </a:spcAft>
              <a:buClr>
                <a:srgbClr val="000000"/>
              </a:buClr>
              <a:buSzPts val="3200"/>
              <a:buFont typeface="Arial"/>
              <a:buNone/>
            </a:pPr>
            <a:r>
              <a:rPr lang="en-IN" sz="3200" b="0" i="0" u="sng" strike="noStrike" cap="none">
                <a:solidFill>
                  <a:schemeClr val="dk1"/>
                </a:solidFill>
                <a:latin typeface="Times New Roman"/>
                <a:ea typeface="Times New Roman"/>
                <a:cs typeface="Times New Roman"/>
                <a:sym typeface="Times New Roman"/>
              </a:rPr>
              <a:t>TY-BTech Major Project (SEM-VI)</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3600"/>
              <a:buFont typeface="Arial"/>
              <a:buNone/>
            </a:pPr>
            <a:r>
              <a:rPr lang="en-IN" sz="3600" b="1" i="0" u="none" strike="noStrike" cap="none">
                <a:solidFill>
                  <a:schemeClr val="dk1"/>
                </a:solidFill>
                <a:latin typeface="Times New Roman"/>
                <a:ea typeface="Times New Roman"/>
                <a:cs typeface="Times New Roman"/>
                <a:sym typeface="Times New Roman"/>
              </a:rPr>
              <a:t>Blind Person Reader and Language Translator System</a:t>
            </a:r>
            <a:endParaRPr sz="3600" b="1" i="0" u="none" strike="noStrike" cap="none">
              <a:solidFill>
                <a:schemeClr val="dk1"/>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3600"/>
              <a:buFont typeface="Arial"/>
              <a:buNone/>
            </a:pPr>
            <a:r>
              <a:rPr lang="en-IN" sz="1700" b="1" i="0" u="none" strike="noStrike" cap="none">
                <a:solidFill>
                  <a:schemeClr val="dk1"/>
                </a:solidFill>
                <a:latin typeface="Times New Roman"/>
                <a:ea typeface="Times New Roman"/>
                <a:cs typeface="Times New Roman"/>
                <a:sym typeface="Times New Roman"/>
              </a:rPr>
              <a:t>SDG (Sustainable Development Goals) 10:Reduced Inequalities</a:t>
            </a:r>
            <a:endParaRPr sz="1700" b="1" i="0" u="none" strike="noStrike" cap="none">
              <a:solidFill>
                <a:schemeClr val="dk1"/>
              </a:solidFill>
              <a:latin typeface="Times New Roman"/>
              <a:ea typeface="Times New Roman"/>
              <a:cs typeface="Times New Roman"/>
              <a:sym typeface="Times New Roman"/>
            </a:endParaRPr>
          </a:p>
        </p:txBody>
      </p:sp>
      <p:pic>
        <p:nvPicPr>
          <p:cNvPr id="85" name="Google Shape;85;p1" descr="Image result for mit academy of engineering logo"/>
          <p:cNvPicPr preferRelativeResize="0"/>
          <p:nvPr/>
        </p:nvPicPr>
        <p:blipFill rotWithShape="1">
          <a:blip r:embed="rId3">
            <a:alphaModFix/>
          </a:blip>
          <a:srcRect/>
          <a:stretch/>
        </p:blipFill>
        <p:spPr>
          <a:xfrm>
            <a:off x="1717039" y="229512"/>
            <a:ext cx="8960793" cy="963078"/>
          </a:xfrm>
          <a:prstGeom prst="rect">
            <a:avLst/>
          </a:prstGeom>
          <a:noFill/>
          <a:ln>
            <a:noFill/>
          </a:ln>
        </p:spPr>
      </p:pic>
      <p:sp>
        <p:nvSpPr>
          <p:cNvPr id="86" name="Google Shape;86;p1"/>
          <p:cNvSpPr txBox="1"/>
          <p:nvPr/>
        </p:nvSpPr>
        <p:spPr>
          <a:xfrm>
            <a:off x="2790447" y="1365538"/>
            <a:ext cx="6611105" cy="70788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000"/>
              <a:buFont typeface="Arial"/>
              <a:buNone/>
            </a:pPr>
            <a:r>
              <a:rPr lang="en-IN" sz="4000" b="1" i="0" u="none" strike="noStrike" cap="none">
                <a:solidFill>
                  <a:srgbClr val="2F5496"/>
                </a:solidFill>
                <a:latin typeface="Times New Roman"/>
                <a:ea typeface="Times New Roman"/>
                <a:cs typeface="Times New Roman"/>
                <a:sym typeface="Times New Roman"/>
              </a:rPr>
              <a:t>School of E&amp;TC Engineering</a:t>
            </a:r>
            <a:endParaRPr sz="1400" b="0" i="0" u="none" strike="noStrike" cap="none">
              <a:solidFill>
                <a:srgbClr val="000000"/>
              </a:solidFill>
              <a:latin typeface="Arial"/>
              <a:ea typeface="Arial"/>
              <a:cs typeface="Arial"/>
              <a:sym typeface="Arial"/>
            </a:endParaRPr>
          </a:p>
        </p:txBody>
      </p:sp>
      <p:sp>
        <p:nvSpPr>
          <p:cNvPr id="87" name="Google Shape;87;p1"/>
          <p:cNvSpPr txBox="1"/>
          <p:nvPr/>
        </p:nvSpPr>
        <p:spPr>
          <a:xfrm>
            <a:off x="1075775" y="5196001"/>
            <a:ext cx="3201600" cy="1232700"/>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chemeClr val="dk1"/>
              </a:buClr>
              <a:buSzPts val="2000"/>
              <a:buFont typeface="Arial"/>
              <a:buNone/>
            </a:pPr>
            <a:r>
              <a:rPr lang="en-IN" sz="2000" b="0" i="0" u="none" strike="noStrike" cap="none">
                <a:solidFill>
                  <a:schemeClr val="dk1"/>
                </a:solidFill>
                <a:latin typeface="Times New Roman"/>
                <a:ea typeface="Times New Roman"/>
                <a:cs typeface="Times New Roman"/>
                <a:sym typeface="Times New Roman"/>
              </a:rPr>
              <a:t>Guide:</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1000"/>
              </a:spcBef>
              <a:spcAft>
                <a:spcPts val="0"/>
              </a:spcAft>
              <a:buClr>
                <a:schemeClr val="dk1"/>
              </a:buClr>
              <a:buSzPts val="2000"/>
              <a:buFont typeface="Arial"/>
              <a:buNone/>
            </a:pPr>
            <a:r>
              <a:rPr lang="en-IN" sz="2000" b="0" i="0" u="none" strike="noStrike" cap="none">
                <a:solidFill>
                  <a:schemeClr val="dk1"/>
                </a:solidFill>
                <a:latin typeface="Times New Roman"/>
                <a:ea typeface="Times New Roman"/>
                <a:cs typeface="Times New Roman"/>
                <a:sym typeface="Times New Roman"/>
              </a:rPr>
              <a:t>Dr. </a:t>
            </a:r>
            <a:r>
              <a:rPr lang="en-IN" sz="2000" b="1" i="0" u="none" strike="noStrike" cap="none">
                <a:solidFill>
                  <a:schemeClr val="dk1"/>
                </a:solidFill>
                <a:latin typeface="Calibri"/>
                <a:ea typeface="Calibri"/>
                <a:cs typeface="Calibri"/>
                <a:sym typeface="Calibri"/>
              </a:rPr>
              <a:t>Vrushali Waghmare</a:t>
            </a:r>
            <a:endParaRPr sz="2000" b="0" i="0" u="none" strike="noStrike" cap="none">
              <a:solidFill>
                <a:schemeClr val="dk1"/>
              </a:solidFill>
              <a:latin typeface="Calibri"/>
              <a:ea typeface="Calibri"/>
              <a:cs typeface="Calibri"/>
              <a:sym typeface="Calibri"/>
            </a:endParaRPr>
          </a:p>
        </p:txBody>
      </p:sp>
      <p:sp>
        <p:nvSpPr>
          <p:cNvPr id="88" name="Google Shape;88;p1"/>
          <p:cNvSpPr txBox="1"/>
          <p:nvPr/>
        </p:nvSpPr>
        <p:spPr>
          <a:xfrm>
            <a:off x="6919373" y="5030817"/>
            <a:ext cx="4469400" cy="92328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IN" sz="1800" b="1" i="0" u="none" strike="noStrike" cap="none" dirty="0">
                <a:solidFill>
                  <a:srgbClr val="2F5496"/>
                </a:solidFill>
                <a:latin typeface="Times New Roman"/>
                <a:ea typeface="Times New Roman"/>
                <a:cs typeface="Times New Roman"/>
                <a:sym typeface="Times New Roman"/>
              </a:rPr>
              <a:t>Group Members</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IN" sz="1800" b="1" i="0" u="none" strike="noStrike" cap="none" dirty="0">
                <a:solidFill>
                  <a:srgbClr val="2F5496"/>
                </a:solidFill>
                <a:latin typeface="Times New Roman"/>
                <a:ea typeface="Times New Roman"/>
                <a:cs typeface="Times New Roman"/>
                <a:sym typeface="Times New Roman"/>
              </a:rPr>
              <a:t>Name                         PRN</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IN" sz="1800" b="1" i="0" u="none" strike="noStrike" cap="none" dirty="0">
                <a:solidFill>
                  <a:schemeClr val="dk1"/>
                </a:solidFill>
                <a:latin typeface="Calibri"/>
                <a:ea typeface="Calibri"/>
                <a:cs typeface="Calibri"/>
                <a:sym typeface="Calibri"/>
              </a:rPr>
              <a:t>Durgesh Dahifale        </a:t>
            </a:r>
            <a:r>
              <a:rPr lang="en-IN" sz="1800" b="1" i="0" u="none" strike="noStrike" cap="none" dirty="0">
                <a:solidFill>
                  <a:schemeClr val="dk1"/>
                </a:solidFill>
                <a:latin typeface="Times New Roman"/>
                <a:ea typeface="Times New Roman"/>
                <a:cs typeface="Times New Roman"/>
                <a:sym typeface="Times New Roman"/>
              </a:rPr>
              <a:t> 202402060010</a:t>
            </a:r>
            <a:endParaRPr sz="1400" b="1" i="0" u="none" strike="noStrike" cap="none" dirty="0">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2"/>
        <p:cNvGrpSpPr/>
        <p:nvPr/>
      </p:nvGrpSpPr>
      <p:grpSpPr>
        <a:xfrm>
          <a:off x="0" y="0"/>
          <a:ext cx="0" cy="0"/>
          <a:chOff x="0" y="0"/>
          <a:chExt cx="0" cy="0"/>
        </a:xfrm>
      </p:grpSpPr>
      <p:sp>
        <p:nvSpPr>
          <p:cNvPr id="93" name="Google Shape;93;p2"/>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4" name="Google Shape;94;p2"/>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5" name="Google Shape;95;p2"/>
          <p:cNvSpPr/>
          <p:nvPr/>
        </p:nvSpPr>
        <p:spPr>
          <a:xfrm rot="5400000" flipH="1">
            <a:off x="-1410084" y="1410082"/>
            <a:ext cx="6858000" cy="4037836"/>
          </a:xfrm>
          <a:prstGeom prst="rect">
            <a:avLst/>
          </a:prstGeom>
          <a:gradFill>
            <a:gsLst>
              <a:gs pos="0">
                <a:srgbClr val="000000"/>
              </a:gs>
              <a:gs pos="8000">
                <a:srgbClr val="000000"/>
              </a:gs>
              <a:gs pos="100000">
                <a:srgbClr val="2F5496"/>
              </a:gs>
            </a:gsLst>
            <a:lin ang="3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6" name="Google Shape;96;p2"/>
          <p:cNvSpPr/>
          <p:nvPr/>
        </p:nvSpPr>
        <p:spPr>
          <a:xfrm rot="5400000" flipH="1">
            <a:off x="-1410088" y="1420218"/>
            <a:ext cx="6858002" cy="4037837"/>
          </a:xfrm>
          <a:prstGeom prst="rect">
            <a:avLst/>
          </a:prstGeom>
          <a:gradFill>
            <a:gsLst>
              <a:gs pos="0">
                <a:srgbClr val="000000">
                  <a:alpha val="0"/>
                </a:srgbClr>
              </a:gs>
              <a:gs pos="99000">
                <a:srgbClr val="4472C4">
                  <a:alpha val="45490"/>
                </a:srgbClr>
              </a:gs>
              <a:gs pos="100000">
                <a:srgbClr val="4472C4">
                  <a:alpha val="45490"/>
                </a:srgbClr>
              </a:gs>
            </a:gsLst>
            <a:lin ang="1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7" name="Google Shape;97;p2"/>
          <p:cNvSpPr/>
          <p:nvPr/>
        </p:nvSpPr>
        <p:spPr>
          <a:xfrm rot="5400000" flipH="1">
            <a:off x="767923" y="3588085"/>
            <a:ext cx="2501979" cy="4037841"/>
          </a:xfrm>
          <a:prstGeom prst="rect">
            <a:avLst/>
          </a:prstGeom>
          <a:gradFill>
            <a:gsLst>
              <a:gs pos="0">
                <a:srgbClr val="4472C4">
                  <a:alpha val="28235"/>
                </a:srgbClr>
              </a:gs>
              <a:gs pos="2000">
                <a:srgbClr val="4472C4">
                  <a:alpha val="28235"/>
                </a:srgbClr>
              </a:gs>
              <a:gs pos="100000">
                <a:srgbClr val="000000">
                  <a:alpha val="29411"/>
                </a:srgbClr>
              </a:gs>
            </a:gsLst>
            <a:lin ang="7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8" name="Google Shape;98;p2"/>
          <p:cNvSpPr/>
          <p:nvPr/>
        </p:nvSpPr>
        <p:spPr>
          <a:xfrm rot="-964587">
            <a:off x="-501737" y="969718"/>
            <a:ext cx="3900357" cy="4178958"/>
          </a:xfrm>
          <a:custGeom>
            <a:avLst/>
            <a:gdLst/>
            <a:ahLst/>
            <a:cxnLst/>
            <a:rect l="l" t="t" r="r" b="b"/>
            <a:pathLst>
              <a:path w="3900357" h="4178958" extrusionOk="0">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0">
                <a:srgbClr val="000000">
                  <a:alpha val="0"/>
                </a:srgbClr>
              </a:gs>
              <a:gs pos="29000">
                <a:srgbClr val="000000">
                  <a:alpha val="0"/>
                </a:srgbClr>
              </a:gs>
              <a:gs pos="100000">
                <a:srgbClr val="4472C4">
                  <a:alpha val="42352"/>
                </a:srgbClr>
              </a:gs>
            </a:gsLst>
            <a:lin ang="1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9" name="Google Shape;99;p2"/>
          <p:cNvSpPr txBox="1"/>
          <p:nvPr/>
        </p:nvSpPr>
        <p:spPr>
          <a:xfrm>
            <a:off x="-639800" y="586850"/>
            <a:ext cx="4540800" cy="3387600"/>
          </a:xfrm>
          <a:prstGeom prst="rect">
            <a:avLst/>
          </a:prstGeom>
          <a:noFill/>
          <a:ln>
            <a:noFill/>
          </a:ln>
        </p:spPr>
        <p:txBody>
          <a:bodyPr spcFirstLastPara="1" wrap="square" lIns="91425" tIns="45700" rIns="91425" bIns="45700" anchor="b" anchorCtr="0">
            <a:normAutofit/>
          </a:bodyPr>
          <a:lstStyle/>
          <a:p>
            <a:pPr marL="0" marR="0" lvl="0" indent="0" algn="r" rtl="0">
              <a:lnSpc>
                <a:spcPct val="90000"/>
              </a:lnSpc>
              <a:spcBef>
                <a:spcPts val="0"/>
              </a:spcBef>
              <a:spcAft>
                <a:spcPts val="0"/>
              </a:spcAft>
              <a:buClr>
                <a:srgbClr val="FFFFFF"/>
              </a:buClr>
              <a:buSzPts val="9600"/>
              <a:buFont typeface="Calibri"/>
              <a:buNone/>
            </a:pPr>
            <a:r>
              <a:rPr lang="en-IN" sz="8000" b="1" i="0" u="none" strike="noStrike" cap="none">
                <a:solidFill>
                  <a:srgbClr val="FFFFFF"/>
                </a:solidFill>
                <a:latin typeface="Times New Roman"/>
                <a:ea typeface="Times New Roman"/>
                <a:cs typeface="Times New Roman"/>
                <a:sym typeface="Times New Roman"/>
              </a:rPr>
              <a:t>Content</a:t>
            </a:r>
            <a:endParaRPr sz="8000" b="0" i="0" u="none" strike="noStrike" cap="none">
              <a:solidFill>
                <a:srgbClr val="000000"/>
              </a:solidFill>
              <a:latin typeface="Times New Roman"/>
              <a:ea typeface="Times New Roman"/>
              <a:cs typeface="Times New Roman"/>
              <a:sym typeface="Times New Roman"/>
            </a:endParaRPr>
          </a:p>
        </p:txBody>
      </p:sp>
      <p:sp>
        <p:nvSpPr>
          <p:cNvPr id="100" name="Google Shape;100;p2"/>
          <p:cNvSpPr txBox="1">
            <a:spLocks noGrp="1"/>
          </p:cNvSpPr>
          <p:nvPr>
            <p:ph type="body" idx="1"/>
          </p:nvPr>
        </p:nvSpPr>
        <p:spPr>
          <a:xfrm>
            <a:off x="4810259" y="10136"/>
            <a:ext cx="6555300" cy="6185400"/>
          </a:xfrm>
          <a:prstGeom prst="rect">
            <a:avLst/>
          </a:prstGeom>
          <a:noFill/>
          <a:ln>
            <a:noFill/>
          </a:ln>
        </p:spPr>
        <p:txBody>
          <a:bodyPr spcFirstLastPara="1" wrap="square" lIns="91425" tIns="45700" rIns="91425" bIns="45700" anchor="ctr" anchorCtr="0">
            <a:normAutofit lnSpcReduction="20000"/>
          </a:bodyPr>
          <a:lstStyle/>
          <a:p>
            <a:pPr marL="228600" lvl="0" indent="-228600" algn="l" rtl="0">
              <a:lnSpc>
                <a:spcPct val="90000"/>
              </a:lnSpc>
              <a:spcBef>
                <a:spcPts val="0"/>
              </a:spcBef>
              <a:spcAft>
                <a:spcPts val="0"/>
              </a:spcAft>
              <a:buClr>
                <a:schemeClr val="dk1"/>
              </a:buClr>
              <a:buSzPts val="2000"/>
              <a:buChar char="•"/>
            </a:pPr>
            <a:r>
              <a:rPr lang="en-IN" sz="2000">
                <a:latin typeface="Times New Roman"/>
                <a:ea typeface="Times New Roman"/>
                <a:cs typeface="Times New Roman"/>
                <a:sym typeface="Times New Roman"/>
              </a:rPr>
              <a:t>Title</a:t>
            </a:r>
            <a:endParaRPr/>
          </a:p>
          <a:p>
            <a:pPr marL="228600" lvl="0" indent="-228600" algn="l" rtl="0">
              <a:lnSpc>
                <a:spcPct val="90000"/>
              </a:lnSpc>
              <a:spcBef>
                <a:spcPts val="1000"/>
              </a:spcBef>
              <a:spcAft>
                <a:spcPts val="0"/>
              </a:spcAft>
              <a:buClr>
                <a:schemeClr val="dk1"/>
              </a:buClr>
              <a:buSzPts val="2000"/>
              <a:buChar char="•"/>
            </a:pPr>
            <a:r>
              <a:rPr lang="en-IN" sz="2000">
                <a:latin typeface="Times New Roman"/>
                <a:ea typeface="Times New Roman"/>
                <a:cs typeface="Times New Roman"/>
                <a:sym typeface="Times New Roman"/>
              </a:rPr>
              <a:t>Introduction </a:t>
            </a:r>
            <a:endParaRPr/>
          </a:p>
          <a:p>
            <a:pPr marL="228600" lvl="0" indent="-228600" algn="l" rtl="0">
              <a:lnSpc>
                <a:spcPct val="90000"/>
              </a:lnSpc>
              <a:spcBef>
                <a:spcPts val="1000"/>
              </a:spcBef>
              <a:spcAft>
                <a:spcPts val="0"/>
              </a:spcAft>
              <a:buClr>
                <a:schemeClr val="dk1"/>
              </a:buClr>
              <a:buSzPts val="2000"/>
              <a:buChar char="•"/>
            </a:pPr>
            <a:r>
              <a:rPr lang="en-IN" sz="2000">
                <a:latin typeface="Times New Roman"/>
                <a:ea typeface="Times New Roman"/>
                <a:cs typeface="Times New Roman"/>
                <a:sym typeface="Times New Roman"/>
              </a:rPr>
              <a:t>Literature Survey </a:t>
            </a:r>
            <a:endParaRPr/>
          </a:p>
          <a:p>
            <a:pPr marL="228600" lvl="0" indent="-228600" algn="l" rtl="0">
              <a:lnSpc>
                <a:spcPct val="90000"/>
              </a:lnSpc>
              <a:spcBef>
                <a:spcPts val="1000"/>
              </a:spcBef>
              <a:spcAft>
                <a:spcPts val="0"/>
              </a:spcAft>
              <a:buSzPts val="2000"/>
              <a:buChar char="•"/>
            </a:pPr>
            <a:r>
              <a:rPr lang="en-IN" sz="2000">
                <a:latin typeface="Times New Roman"/>
                <a:ea typeface="Times New Roman"/>
                <a:cs typeface="Times New Roman"/>
                <a:sym typeface="Times New Roman"/>
              </a:rPr>
              <a:t>Summary of Literature Survey </a:t>
            </a:r>
            <a:endParaRPr/>
          </a:p>
          <a:p>
            <a:pPr marL="228600" lvl="0" indent="-228600" algn="l" rtl="0">
              <a:lnSpc>
                <a:spcPct val="90000"/>
              </a:lnSpc>
              <a:spcBef>
                <a:spcPts val="1000"/>
              </a:spcBef>
              <a:spcAft>
                <a:spcPts val="0"/>
              </a:spcAft>
              <a:buClr>
                <a:schemeClr val="dk1"/>
              </a:buClr>
              <a:buSzPts val="2000"/>
              <a:buChar char="•"/>
            </a:pPr>
            <a:r>
              <a:rPr lang="en-IN" sz="2000">
                <a:latin typeface="Times New Roman"/>
                <a:ea typeface="Times New Roman"/>
                <a:cs typeface="Times New Roman"/>
                <a:sym typeface="Times New Roman"/>
              </a:rPr>
              <a:t>Problem Statement </a:t>
            </a:r>
            <a:endParaRPr/>
          </a:p>
          <a:p>
            <a:pPr marL="228600" lvl="0" indent="-228600" algn="l" rtl="0">
              <a:lnSpc>
                <a:spcPct val="90000"/>
              </a:lnSpc>
              <a:spcBef>
                <a:spcPts val="1000"/>
              </a:spcBef>
              <a:spcAft>
                <a:spcPts val="0"/>
              </a:spcAft>
              <a:buClr>
                <a:schemeClr val="dk1"/>
              </a:buClr>
              <a:buSzPts val="2000"/>
              <a:buChar char="•"/>
            </a:pPr>
            <a:r>
              <a:rPr lang="en-IN" sz="2000">
                <a:latin typeface="Times New Roman"/>
                <a:ea typeface="Times New Roman"/>
                <a:cs typeface="Times New Roman"/>
                <a:sym typeface="Times New Roman"/>
              </a:rPr>
              <a:t>Objectives of the Project </a:t>
            </a:r>
            <a:endParaRPr/>
          </a:p>
          <a:p>
            <a:pPr marL="228600" lvl="0" indent="-228600" algn="l" rtl="0">
              <a:lnSpc>
                <a:spcPct val="90000"/>
              </a:lnSpc>
              <a:spcBef>
                <a:spcPts val="1000"/>
              </a:spcBef>
              <a:spcAft>
                <a:spcPts val="0"/>
              </a:spcAft>
              <a:buClr>
                <a:schemeClr val="dk1"/>
              </a:buClr>
              <a:buSzPts val="2000"/>
              <a:buChar char="•"/>
            </a:pPr>
            <a:r>
              <a:rPr lang="en-IN" sz="2000">
                <a:latin typeface="Times New Roman"/>
                <a:ea typeface="Times New Roman"/>
                <a:cs typeface="Times New Roman"/>
                <a:sym typeface="Times New Roman"/>
              </a:rPr>
              <a:t>Block diagram</a:t>
            </a:r>
            <a:endParaRPr/>
          </a:p>
          <a:p>
            <a:pPr marL="228600" lvl="0" indent="-228600" algn="l" rtl="0">
              <a:lnSpc>
                <a:spcPct val="90000"/>
              </a:lnSpc>
              <a:spcBef>
                <a:spcPts val="1000"/>
              </a:spcBef>
              <a:spcAft>
                <a:spcPts val="0"/>
              </a:spcAft>
              <a:buClr>
                <a:schemeClr val="dk1"/>
              </a:buClr>
              <a:buSzPts val="2000"/>
              <a:buChar char="•"/>
            </a:pPr>
            <a:r>
              <a:rPr lang="en-IN" sz="2000">
                <a:latin typeface="Times New Roman"/>
                <a:ea typeface="Times New Roman"/>
                <a:cs typeface="Times New Roman"/>
                <a:sym typeface="Times New Roman"/>
              </a:rPr>
              <a:t>Methodology </a:t>
            </a:r>
            <a:endParaRPr/>
          </a:p>
          <a:p>
            <a:pPr marL="228600" lvl="0" indent="-228600" algn="l" rtl="0">
              <a:lnSpc>
                <a:spcPct val="90000"/>
              </a:lnSpc>
              <a:spcBef>
                <a:spcPts val="1000"/>
              </a:spcBef>
              <a:spcAft>
                <a:spcPts val="0"/>
              </a:spcAft>
              <a:buClr>
                <a:schemeClr val="dk1"/>
              </a:buClr>
              <a:buSzPts val="2000"/>
              <a:buChar char="•"/>
            </a:pPr>
            <a:r>
              <a:rPr lang="en-IN" sz="2000">
                <a:latin typeface="Times New Roman"/>
                <a:ea typeface="Times New Roman"/>
                <a:cs typeface="Times New Roman"/>
                <a:sym typeface="Times New Roman"/>
              </a:rPr>
              <a:t>Component selection</a:t>
            </a:r>
            <a:endParaRPr sz="2000">
              <a:latin typeface="Times New Roman"/>
              <a:ea typeface="Times New Roman"/>
              <a:cs typeface="Times New Roman"/>
              <a:sym typeface="Times New Roman"/>
            </a:endParaRPr>
          </a:p>
          <a:p>
            <a:pPr marL="228600" lvl="0" indent="-228600" algn="l" rtl="0">
              <a:lnSpc>
                <a:spcPct val="90000"/>
              </a:lnSpc>
              <a:spcBef>
                <a:spcPts val="1000"/>
              </a:spcBef>
              <a:spcAft>
                <a:spcPts val="0"/>
              </a:spcAft>
              <a:buSzPts val="2000"/>
              <a:buFont typeface="Times New Roman"/>
              <a:buChar char="•"/>
            </a:pPr>
            <a:r>
              <a:rPr lang="en-IN" sz="2000">
                <a:latin typeface="Times New Roman"/>
                <a:ea typeface="Times New Roman"/>
                <a:cs typeface="Times New Roman"/>
                <a:sym typeface="Times New Roman"/>
              </a:rPr>
              <a:t>Sustainable Development Goals (SDGs)</a:t>
            </a:r>
            <a:endParaRPr sz="2000">
              <a:latin typeface="Times New Roman"/>
              <a:ea typeface="Times New Roman"/>
              <a:cs typeface="Times New Roman"/>
              <a:sym typeface="Times New Roman"/>
            </a:endParaRPr>
          </a:p>
          <a:p>
            <a:pPr marL="228600" lvl="0" indent="-228600" algn="l" rtl="0">
              <a:lnSpc>
                <a:spcPct val="90000"/>
              </a:lnSpc>
              <a:spcBef>
                <a:spcPts val="1000"/>
              </a:spcBef>
              <a:spcAft>
                <a:spcPts val="0"/>
              </a:spcAft>
              <a:buClr>
                <a:schemeClr val="dk1"/>
              </a:buClr>
              <a:buSzPts val="2000"/>
              <a:buChar char="•"/>
            </a:pPr>
            <a:r>
              <a:rPr lang="en-IN" sz="2000">
                <a:latin typeface="Times New Roman"/>
                <a:ea typeface="Times New Roman"/>
                <a:cs typeface="Times New Roman"/>
                <a:sym typeface="Times New Roman"/>
              </a:rPr>
              <a:t>Implementation Plan / Work Plan</a:t>
            </a:r>
            <a:endParaRPr sz="2000">
              <a:latin typeface="Times New Roman"/>
              <a:ea typeface="Times New Roman"/>
              <a:cs typeface="Times New Roman"/>
              <a:sym typeface="Times New Roman"/>
            </a:endParaRPr>
          </a:p>
          <a:p>
            <a:pPr marL="228600" lvl="0" indent="-228600" algn="l" rtl="0">
              <a:lnSpc>
                <a:spcPct val="90000"/>
              </a:lnSpc>
              <a:spcBef>
                <a:spcPts val="1000"/>
              </a:spcBef>
              <a:spcAft>
                <a:spcPts val="0"/>
              </a:spcAft>
              <a:buSzPts val="2000"/>
              <a:buFont typeface="Times New Roman"/>
              <a:buChar char="•"/>
            </a:pPr>
            <a:r>
              <a:rPr lang="en-IN" sz="2000">
                <a:latin typeface="Times New Roman"/>
                <a:ea typeface="Times New Roman"/>
                <a:cs typeface="Times New Roman"/>
                <a:sym typeface="Times New Roman"/>
              </a:rPr>
              <a:t>Phase-1 Result</a:t>
            </a:r>
            <a:endParaRPr sz="2000">
              <a:latin typeface="Times New Roman"/>
              <a:ea typeface="Times New Roman"/>
              <a:cs typeface="Times New Roman"/>
              <a:sym typeface="Times New Roman"/>
            </a:endParaRPr>
          </a:p>
          <a:p>
            <a:pPr marL="228600" lvl="0" indent="-228600" algn="l" rtl="0">
              <a:lnSpc>
                <a:spcPct val="90000"/>
              </a:lnSpc>
              <a:spcBef>
                <a:spcPts val="1000"/>
              </a:spcBef>
              <a:spcAft>
                <a:spcPts val="0"/>
              </a:spcAft>
              <a:buSzPts val="2000"/>
              <a:buFont typeface="Times New Roman"/>
              <a:buChar char="•"/>
            </a:pPr>
            <a:r>
              <a:rPr lang="en-IN" sz="2000">
                <a:latin typeface="Times New Roman"/>
                <a:ea typeface="Times New Roman"/>
                <a:cs typeface="Times New Roman"/>
                <a:sym typeface="Times New Roman"/>
              </a:rPr>
              <a:t>Phase-2 Result</a:t>
            </a:r>
            <a:endParaRPr sz="2000">
              <a:latin typeface="Times New Roman"/>
              <a:ea typeface="Times New Roman"/>
              <a:cs typeface="Times New Roman"/>
              <a:sym typeface="Times New Roman"/>
            </a:endParaRPr>
          </a:p>
          <a:p>
            <a:pPr marL="228600" lvl="0" indent="-228600" algn="l" rtl="0">
              <a:lnSpc>
                <a:spcPct val="90000"/>
              </a:lnSpc>
              <a:spcBef>
                <a:spcPts val="1000"/>
              </a:spcBef>
              <a:spcAft>
                <a:spcPts val="0"/>
              </a:spcAft>
              <a:buSzPts val="2000"/>
              <a:buFont typeface="Times New Roman"/>
              <a:buChar char="•"/>
            </a:pPr>
            <a:r>
              <a:rPr lang="en-IN" sz="2000">
                <a:latin typeface="Times New Roman"/>
                <a:ea typeface="Times New Roman"/>
                <a:cs typeface="Times New Roman"/>
                <a:sym typeface="Times New Roman"/>
              </a:rPr>
              <a:t>3D Model Prototype</a:t>
            </a:r>
            <a:endParaRPr sz="2000">
              <a:latin typeface="Times New Roman"/>
              <a:ea typeface="Times New Roman"/>
              <a:cs typeface="Times New Roman"/>
              <a:sym typeface="Times New Roman"/>
            </a:endParaRPr>
          </a:p>
          <a:p>
            <a:pPr marL="228600" lvl="0" indent="-228600" algn="l" rtl="0">
              <a:lnSpc>
                <a:spcPct val="90000"/>
              </a:lnSpc>
              <a:spcBef>
                <a:spcPts val="1000"/>
              </a:spcBef>
              <a:spcAft>
                <a:spcPts val="0"/>
              </a:spcAft>
              <a:buSzPts val="2000"/>
              <a:buFont typeface="Times New Roman"/>
              <a:buChar char="•"/>
            </a:pPr>
            <a:r>
              <a:rPr lang="en-IN" sz="2000">
                <a:latin typeface="Times New Roman"/>
                <a:ea typeface="Times New Roman"/>
                <a:cs typeface="Times New Roman"/>
                <a:sym typeface="Times New Roman"/>
              </a:rPr>
              <a:t>3D Model</a:t>
            </a:r>
            <a:endParaRPr sz="2000">
              <a:latin typeface="Times New Roman"/>
              <a:ea typeface="Times New Roman"/>
              <a:cs typeface="Times New Roman"/>
              <a:sym typeface="Times New Roman"/>
            </a:endParaRPr>
          </a:p>
          <a:p>
            <a:pPr marL="228600" lvl="0" indent="-228600" algn="l" rtl="0">
              <a:lnSpc>
                <a:spcPct val="90000"/>
              </a:lnSpc>
              <a:spcBef>
                <a:spcPts val="1000"/>
              </a:spcBef>
              <a:spcAft>
                <a:spcPts val="0"/>
              </a:spcAft>
              <a:buClr>
                <a:schemeClr val="dk1"/>
              </a:buClr>
              <a:buSzPts val="2000"/>
              <a:buChar char="•"/>
            </a:pPr>
            <a:r>
              <a:rPr lang="en-IN" sz="2000">
                <a:latin typeface="Times New Roman"/>
                <a:ea typeface="Times New Roman"/>
                <a:cs typeface="Times New Roman"/>
                <a:sym typeface="Times New Roman"/>
              </a:rPr>
              <a:t>Conclusion</a:t>
            </a:r>
            <a:endParaRPr/>
          </a:p>
          <a:p>
            <a:pPr marL="228600" lvl="0" indent="-228600" algn="l" rtl="0">
              <a:lnSpc>
                <a:spcPct val="90000"/>
              </a:lnSpc>
              <a:spcBef>
                <a:spcPts val="1000"/>
              </a:spcBef>
              <a:spcAft>
                <a:spcPts val="0"/>
              </a:spcAft>
              <a:buClr>
                <a:schemeClr val="dk1"/>
              </a:buClr>
              <a:buSzPts val="2000"/>
              <a:buChar char="•"/>
            </a:pPr>
            <a:r>
              <a:rPr lang="en-IN" sz="2000">
                <a:latin typeface="Times New Roman"/>
                <a:ea typeface="Times New Roman"/>
                <a:cs typeface="Times New Roman"/>
                <a:sym typeface="Times New Roman"/>
              </a:rPr>
              <a:t>References</a:t>
            </a:r>
            <a:endParaRPr sz="2000">
              <a:latin typeface="Times New Roman"/>
              <a:ea typeface="Times New Roman"/>
              <a:cs typeface="Times New Roman"/>
              <a:sym typeface="Times New Roman"/>
            </a:endParaRPr>
          </a:p>
          <a:p>
            <a:pPr marL="457200" lvl="0" indent="0" algn="l" rtl="0">
              <a:lnSpc>
                <a:spcPct val="90000"/>
              </a:lnSpc>
              <a:spcBef>
                <a:spcPts val="1000"/>
              </a:spcBef>
              <a:spcAft>
                <a:spcPts val="0"/>
              </a:spcAft>
              <a:buNone/>
            </a:pPr>
            <a:endParaRPr sz="2000">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3"/>
          <p:cNvSpPr txBox="1">
            <a:spLocks noGrp="1"/>
          </p:cNvSpPr>
          <p:nvPr>
            <p:ph type="body" idx="1"/>
          </p:nvPr>
        </p:nvSpPr>
        <p:spPr>
          <a:xfrm>
            <a:off x="304800" y="2321073"/>
            <a:ext cx="11768667" cy="2356944"/>
          </a:xfrm>
          <a:prstGeom prst="rect">
            <a:avLst/>
          </a:prstGeom>
          <a:noFill/>
          <a:ln>
            <a:noFill/>
          </a:ln>
        </p:spPr>
        <p:txBody>
          <a:bodyPr spcFirstLastPara="1" wrap="square" lIns="91425" tIns="45700" rIns="91425" bIns="45700" anchor="t" anchorCtr="0">
            <a:normAutofit fontScale="92500" lnSpcReduction="10000"/>
          </a:bodyPr>
          <a:lstStyle/>
          <a:p>
            <a:pPr marL="0" lvl="0" indent="0" algn="ctr" rtl="0">
              <a:lnSpc>
                <a:spcPct val="120000"/>
              </a:lnSpc>
              <a:spcBef>
                <a:spcPts val="0"/>
              </a:spcBef>
              <a:spcAft>
                <a:spcPts val="0"/>
              </a:spcAft>
              <a:buClr>
                <a:schemeClr val="dk1"/>
              </a:buClr>
              <a:buSzPct val="100000"/>
              <a:buNone/>
            </a:pPr>
            <a:r>
              <a:rPr lang="en-IN" sz="7200" b="1">
                <a:latin typeface="Times New Roman"/>
                <a:ea typeface="Times New Roman"/>
                <a:cs typeface="Times New Roman"/>
                <a:sym typeface="Times New Roman"/>
              </a:rPr>
              <a:t>Blind Person Reader and Language Translator System </a:t>
            </a:r>
            <a:endParaRPr sz="7200">
              <a:latin typeface="Times New Roman"/>
              <a:ea typeface="Times New Roman"/>
              <a:cs typeface="Times New Roman"/>
              <a:sym typeface="Times New Roman"/>
            </a:endParaRPr>
          </a:p>
        </p:txBody>
      </p:sp>
      <p:sp>
        <p:nvSpPr>
          <p:cNvPr id="106" name="Google Shape;106;p3"/>
          <p:cNvSpPr txBox="1"/>
          <p:nvPr/>
        </p:nvSpPr>
        <p:spPr>
          <a:xfrm>
            <a:off x="7241780" y="5133232"/>
            <a:ext cx="4235517" cy="776827"/>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chemeClr val="dk1"/>
              </a:buClr>
              <a:buSzPts val="2800"/>
              <a:buFont typeface="Arial"/>
              <a:buNone/>
            </a:pPr>
            <a:endParaRPr sz="2800" b="0" i="0" u="none" strike="noStrike" cap="none">
              <a:solidFill>
                <a:schemeClr val="dk1"/>
              </a:solidFill>
              <a:highlight>
                <a:srgbClr val="FFFF00"/>
              </a:highlight>
              <a:latin typeface="Calibri"/>
              <a:ea typeface="Calibri"/>
              <a:cs typeface="Calibri"/>
              <a:sym typeface="Calibri"/>
            </a:endParaRPr>
          </a:p>
        </p:txBody>
      </p:sp>
      <p:sp>
        <p:nvSpPr>
          <p:cNvPr id="107" name="Google Shape;107;p3"/>
          <p:cNvSpPr txBox="1"/>
          <p:nvPr/>
        </p:nvSpPr>
        <p:spPr>
          <a:xfrm>
            <a:off x="0" y="18255"/>
            <a:ext cx="12192000" cy="1325563"/>
          </a:xfrm>
          <a:prstGeom prst="rect">
            <a:avLst/>
          </a:prstGeom>
          <a:solidFill>
            <a:srgbClr val="1F3864"/>
          </a:solidFill>
          <a:ln>
            <a:noFill/>
          </a:ln>
          <a:effectLst>
            <a:outerShdw blurRad="44450" dist="27940" dir="5400000" algn="ctr">
              <a:srgbClr val="000000">
                <a:alpha val="31372"/>
              </a:srgbClr>
            </a:outerShdw>
          </a:effectLst>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lt1"/>
              </a:buClr>
              <a:buSzPts val="4400"/>
              <a:buFont typeface="Times New Roman"/>
              <a:buNone/>
            </a:pPr>
            <a:r>
              <a:rPr lang="en-IN" sz="4400" b="1" i="0" u="none" strike="noStrike" cap="none">
                <a:solidFill>
                  <a:schemeClr val="lt1"/>
                </a:solidFill>
                <a:latin typeface="Times New Roman"/>
                <a:ea typeface="Times New Roman"/>
                <a:cs typeface="Times New Roman"/>
                <a:sym typeface="Times New Roman"/>
              </a:rPr>
              <a:t> Title</a:t>
            </a:r>
            <a:endParaRPr sz="4400" b="1" i="0" u="none" strike="noStrike" cap="none">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4"/>
          <p:cNvSpPr txBox="1">
            <a:spLocks noGrp="1"/>
          </p:cNvSpPr>
          <p:nvPr>
            <p:ph type="body" idx="1"/>
          </p:nvPr>
        </p:nvSpPr>
        <p:spPr>
          <a:xfrm>
            <a:off x="580050" y="1559500"/>
            <a:ext cx="6429000" cy="5132700"/>
          </a:xfrm>
          <a:prstGeom prst="rect">
            <a:avLst/>
          </a:prstGeom>
          <a:noFill/>
          <a:ln>
            <a:noFill/>
          </a:ln>
        </p:spPr>
        <p:txBody>
          <a:bodyPr spcFirstLastPara="1" wrap="square" lIns="91425" tIns="45700" rIns="91425" bIns="45700" anchor="t" anchorCtr="0">
            <a:normAutofit/>
          </a:bodyPr>
          <a:lstStyle/>
          <a:p>
            <a:pPr marL="0" lvl="0" indent="0" algn="just" rtl="0">
              <a:lnSpc>
                <a:spcPct val="150000"/>
              </a:lnSpc>
              <a:spcBef>
                <a:spcPts val="0"/>
              </a:spcBef>
              <a:spcAft>
                <a:spcPts val="0"/>
              </a:spcAft>
              <a:buClr>
                <a:schemeClr val="dk1"/>
              </a:buClr>
              <a:buSzPts val="2000"/>
              <a:buNone/>
            </a:pPr>
            <a:r>
              <a:rPr lang="en-IN" sz="2000">
                <a:latin typeface="Times New Roman"/>
                <a:ea typeface="Times New Roman"/>
                <a:cs typeface="Times New Roman"/>
                <a:sym typeface="Times New Roman"/>
              </a:rPr>
              <a:t>This project develops an assistive system for visually impaired individuals to overcome challenges in reading and multilingual communication. The system captures printed text and converts it into speech through text-to-speech (TTS), giving users immediate access to written material. It further integrates for conversational interaction and real-time translation, enabling multilingual support. Using affordable hardware and open-source software frameworks, the solution is cost-effective, user-friendly, and enhances accessibility, independence, and social participation for blind users.</a:t>
            </a:r>
            <a:endParaRPr sz="2000">
              <a:highlight>
                <a:srgbClr val="FFFF00"/>
              </a:highlight>
              <a:latin typeface="Times New Roman"/>
              <a:ea typeface="Times New Roman"/>
              <a:cs typeface="Times New Roman"/>
              <a:sym typeface="Times New Roman"/>
            </a:endParaRPr>
          </a:p>
        </p:txBody>
      </p:sp>
      <p:sp>
        <p:nvSpPr>
          <p:cNvPr id="113" name="Google Shape;113;p4"/>
          <p:cNvSpPr txBox="1"/>
          <p:nvPr/>
        </p:nvSpPr>
        <p:spPr>
          <a:xfrm>
            <a:off x="7241780" y="5133232"/>
            <a:ext cx="4235400" cy="776700"/>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chemeClr val="dk1"/>
              </a:buClr>
              <a:buSzPts val="2800"/>
              <a:buFont typeface="Arial"/>
              <a:buNone/>
            </a:pPr>
            <a:endParaRPr sz="2800" b="0" i="0" u="none" strike="noStrike" cap="none">
              <a:solidFill>
                <a:schemeClr val="dk1"/>
              </a:solidFill>
              <a:highlight>
                <a:srgbClr val="FFFF00"/>
              </a:highlight>
              <a:latin typeface="Calibri"/>
              <a:ea typeface="Calibri"/>
              <a:cs typeface="Calibri"/>
              <a:sym typeface="Calibri"/>
            </a:endParaRPr>
          </a:p>
        </p:txBody>
      </p:sp>
      <p:sp>
        <p:nvSpPr>
          <p:cNvPr id="114" name="Google Shape;114;p4"/>
          <p:cNvSpPr txBox="1"/>
          <p:nvPr/>
        </p:nvSpPr>
        <p:spPr>
          <a:xfrm>
            <a:off x="0" y="18255"/>
            <a:ext cx="12192000" cy="1325700"/>
          </a:xfrm>
          <a:prstGeom prst="rect">
            <a:avLst/>
          </a:prstGeom>
          <a:solidFill>
            <a:srgbClr val="1F3864"/>
          </a:solidFill>
          <a:ln>
            <a:noFill/>
          </a:ln>
          <a:effectLst>
            <a:outerShdw blurRad="44450" dist="27940" dir="5400000" algn="ctr">
              <a:srgbClr val="000000">
                <a:alpha val="31372"/>
              </a:srgbClr>
            </a:outerShdw>
          </a:effectLst>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lt1"/>
              </a:buClr>
              <a:buSzPts val="4400"/>
              <a:buFont typeface="Times New Roman"/>
              <a:buNone/>
            </a:pPr>
            <a:r>
              <a:rPr lang="en-IN" sz="4400" b="1" i="0" u="none" strike="noStrike" cap="none">
                <a:solidFill>
                  <a:schemeClr val="lt1"/>
                </a:solidFill>
                <a:latin typeface="Times New Roman"/>
                <a:ea typeface="Times New Roman"/>
                <a:cs typeface="Times New Roman"/>
                <a:sym typeface="Times New Roman"/>
              </a:rPr>
              <a:t>  </a:t>
            </a:r>
            <a:r>
              <a:rPr lang="en-IN" sz="4800" b="1" i="0" u="none" strike="noStrike" cap="none">
                <a:solidFill>
                  <a:schemeClr val="lt1"/>
                </a:solidFill>
                <a:latin typeface="Times New Roman"/>
                <a:ea typeface="Times New Roman"/>
                <a:cs typeface="Times New Roman"/>
                <a:sym typeface="Times New Roman"/>
              </a:rPr>
              <a:t>Introduction</a:t>
            </a:r>
            <a:endParaRPr sz="1400" b="0" i="0" u="none" strike="noStrike" cap="none">
              <a:solidFill>
                <a:srgbClr val="000000"/>
              </a:solidFill>
              <a:latin typeface="Arial"/>
              <a:ea typeface="Arial"/>
              <a:cs typeface="Arial"/>
              <a:sym typeface="Arial"/>
            </a:endParaRPr>
          </a:p>
        </p:txBody>
      </p:sp>
      <p:sp>
        <p:nvSpPr>
          <p:cNvPr id="115" name="Google Shape;115;p4"/>
          <p:cNvSpPr/>
          <p:nvPr/>
        </p:nvSpPr>
        <p:spPr>
          <a:xfrm>
            <a:off x="0" y="-184666"/>
            <a:ext cx="264900" cy="3693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p:txBody>
      </p:sp>
      <p:pic>
        <p:nvPicPr>
          <p:cNvPr id="116" name="Google Shape;116;p4"/>
          <p:cNvPicPr preferRelativeResize="0"/>
          <p:nvPr/>
        </p:nvPicPr>
        <p:blipFill rotWithShape="1">
          <a:blip r:embed="rId3">
            <a:alphaModFix/>
          </a:blip>
          <a:srcRect/>
          <a:stretch/>
        </p:blipFill>
        <p:spPr>
          <a:xfrm>
            <a:off x="7145300" y="1343825"/>
            <a:ext cx="5046700" cy="53483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5"/>
          <p:cNvSpPr txBox="1">
            <a:spLocks noGrp="1"/>
          </p:cNvSpPr>
          <p:nvPr>
            <p:ph type="title"/>
          </p:nvPr>
        </p:nvSpPr>
        <p:spPr>
          <a:xfrm>
            <a:off x="0" y="18255"/>
            <a:ext cx="12192000" cy="1325563"/>
          </a:xfrm>
          <a:prstGeom prst="rect">
            <a:avLst/>
          </a:prstGeom>
          <a:solidFill>
            <a:srgbClr val="1F3864"/>
          </a:solidFill>
          <a:ln>
            <a:noFill/>
          </a:ln>
          <a:effectLst>
            <a:outerShdw blurRad="44450" dist="27940" dir="5400000" algn="ctr">
              <a:srgbClr val="000000">
                <a:alpha val="31372"/>
              </a:srgbClr>
            </a:outerShdw>
          </a:effectLst>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Times New Roman"/>
              <a:buNone/>
            </a:pPr>
            <a:r>
              <a:rPr lang="en-IN" sz="4400" b="1">
                <a:solidFill>
                  <a:schemeClr val="lt1"/>
                </a:solidFill>
                <a:latin typeface="Times New Roman"/>
                <a:ea typeface="Times New Roman"/>
                <a:cs typeface="Times New Roman"/>
                <a:sym typeface="Times New Roman"/>
              </a:rPr>
              <a:t>  Literature Survey</a:t>
            </a:r>
            <a:endParaRPr/>
          </a:p>
        </p:txBody>
      </p:sp>
      <p:graphicFrame>
        <p:nvGraphicFramePr>
          <p:cNvPr id="122" name="Google Shape;122;p5"/>
          <p:cNvGraphicFramePr/>
          <p:nvPr/>
        </p:nvGraphicFramePr>
        <p:xfrm>
          <a:off x="211668" y="1617131"/>
          <a:ext cx="11702675" cy="4157125"/>
        </p:xfrm>
        <a:graphic>
          <a:graphicData uri="http://schemas.openxmlformats.org/drawingml/2006/table">
            <a:tbl>
              <a:tblPr firstRow="1" bandRow="1">
                <a:noFill/>
                <a:tableStyleId>{2BE4A156-D856-4294-9C9A-E00CE88E0922}</a:tableStyleId>
              </a:tblPr>
              <a:tblGrid>
                <a:gridCol w="552875">
                  <a:extLst>
                    <a:ext uri="{9D8B030D-6E8A-4147-A177-3AD203B41FA5}">
                      <a16:colId xmlns:a16="http://schemas.microsoft.com/office/drawing/2014/main" val="20000"/>
                    </a:ext>
                  </a:extLst>
                </a:gridCol>
                <a:gridCol w="2047700">
                  <a:extLst>
                    <a:ext uri="{9D8B030D-6E8A-4147-A177-3AD203B41FA5}">
                      <a16:colId xmlns:a16="http://schemas.microsoft.com/office/drawing/2014/main" val="20001"/>
                    </a:ext>
                  </a:extLst>
                </a:gridCol>
                <a:gridCol w="1462250">
                  <a:extLst>
                    <a:ext uri="{9D8B030D-6E8A-4147-A177-3AD203B41FA5}">
                      <a16:colId xmlns:a16="http://schemas.microsoft.com/office/drawing/2014/main" val="20002"/>
                    </a:ext>
                  </a:extLst>
                </a:gridCol>
                <a:gridCol w="1138350">
                  <a:extLst>
                    <a:ext uri="{9D8B030D-6E8A-4147-A177-3AD203B41FA5}">
                      <a16:colId xmlns:a16="http://schemas.microsoft.com/office/drawing/2014/main" val="20003"/>
                    </a:ext>
                  </a:extLst>
                </a:gridCol>
                <a:gridCol w="1300300">
                  <a:extLst>
                    <a:ext uri="{9D8B030D-6E8A-4147-A177-3AD203B41FA5}">
                      <a16:colId xmlns:a16="http://schemas.microsoft.com/office/drawing/2014/main" val="20004"/>
                    </a:ext>
                  </a:extLst>
                </a:gridCol>
                <a:gridCol w="1300300">
                  <a:extLst>
                    <a:ext uri="{9D8B030D-6E8A-4147-A177-3AD203B41FA5}">
                      <a16:colId xmlns:a16="http://schemas.microsoft.com/office/drawing/2014/main" val="20005"/>
                    </a:ext>
                  </a:extLst>
                </a:gridCol>
                <a:gridCol w="1300300">
                  <a:extLst>
                    <a:ext uri="{9D8B030D-6E8A-4147-A177-3AD203B41FA5}">
                      <a16:colId xmlns:a16="http://schemas.microsoft.com/office/drawing/2014/main" val="20006"/>
                    </a:ext>
                  </a:extLst>
                </a:gridCol>
                <a:gridCol w="1300300">
                  <a:extLst>
                    <a:ext uri="{9D8B030D-6E8A-4147-A177-3AD203B41FA5}">
                      <a16:colId xmlns:a16="http://schemas.microsoft.com/office/drawing/2014/main" val="20007"/>
                    </a:ext>
                  </a:extLst>
                </a:gridCol>
                <a:gridCol w="1300300">
                  <a:extLst>
                    <a:ext uri="{9D8B030D-6E8A-4147-A177-3AD203B41FA5}">
                      <a16:colId xmlns:a16="http://schemas.microsoft.com/office/drawing/2014/main" val="20008"/>
                    </a:ext>
                  </a:extLst>
                </a:gridCol>
              </a:tblGrid>
              <a:tr h="1219575">
                <a:tc>
                  <a:txBody>
                    <a:bodyPr/>
                    <a:lstStyle/>
                    <a:p>
                      <a:pPr marL="0" marR="0" lvl="0" indent="0" algn="l" rtl="0">
                        <a:lnSpc>
                          <a:spcPct val="100000"/>
                        </a:lnSpc>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Sr No.</a:t>
                      </a:r>
                      <a:endParaRPr sz="18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Name of paper</a:t>
                      </a: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Author(s) &amp; Year</a:t>
                      </a:r>
                      <a:endParaRPr sz="18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lt1"/>
                        </a:buClr>
                        <a:buSzPts val="1800"/>
                        <a:buFont typeface="Times New Roman"/>
                        <a:buNone/>
                      </a:pPr>
                      <a:r>
                        <a:rPr lang="en-IN" sz="1800" b="1" u="none" strike="noStrike" cap="none">
                          <a:solidFill>
                            <a:schemeClr val="lt1"/>
                          </a:solidFill>
                          <a:latin typeface="Times New Roman"/>
                          <a:ea typeface="Times New Roman"/>
                          <a:cs typeface="Times New Roman"/>
                          <a:sym typeface="Times New Roman"/>
                        </a:rPr>
                        <a:t>Board</a:t>
                      </a:r>
                      <a:endParaRPr sz="18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lt1"/>
                        </a:buClr>
                        <a:buSzPts val="1800"/>
                        <a:buFont typeface="Times New Roman"/>
                        <a:buNone/>
                      </a:pPr>
                      <a:r>
                        <a:rPr lang="en-IN" sz="1800" b="1" u="none" strike="noStrike" cap="none">
                          <a:solidFill>
                            <a:schemeClr val="lt1"/>
                          </a:solidFill>
                          <a:latin typeface="Times New Roman"/>
                          <a:ea typeface="Times New Roman"/>
                          <a:cs typeface="Times New Roman"/>
                          <a:sym typeface="Times New Roman"/>
                        </a:rPr>
                        <a:t>Libraries</a:t>
                      </a:r>
                      <a:endParaRPr sz="18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lt1"/>
                        </a:buClr>
                        <a:buSzPts val="1800"/>
                        <a:buFont typeface="Times New Roman"/>
                        <a:buNone/>
                      </a:pPr>
                      <a:r>
                        <a:rPr lang="en-IN" sz="1800" b="1" u="none" strike="noStrike" cap="none">
                          <a:solidFill>
                            <a:schemeClr val="lt1"/>
                          </a:solidFill>
                          <a:latin typeface="Times New Roman"/>
                          <a:ea typeface="Times New Roman"/>
                          <a:cs typeface="Times New Roman"/>
                          <a:sym typeface="Times New Roman"/>
                        </a:rPr>
                        <a:t>Hardware</a:t>
                      </a:r>
                      <a:endParaRPr sz="18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lt1"/>
                        </a:buClr>
                        <a:buSzPts val="1800"/>
                        <a:buFont typeface="Times New Roman"/>
                        <a:buNone/>
                      </a:pPr>
                      <a:r>
                        <a:rPr lang="en-IN" sz="1800" b="1" u="none" strike="noStrike" cap="none">
                          <a:solidFill>
                            <a:schemeClr val="lt1"/>
                          </a:solidFill>
                          <a:latin typeface="Times New Roman"/>
                          <a:ea typeface="Times New Roman"/>
                          <a:cs typeface="Times New Roman"/>
                          <a:sym typeface="Times New Roman"/>
                        </a:rPr>
                        <a:t>Software</a:t>
                      </a:r>
                      <a:endParaRPr sz="18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lt1"/>
                        </a:buClr>
                        <a:buSzPts val="1800"/>
                        <a:buFont typeface="Times New Roman"/>
                        <a:buNone/>
                      </a:pPr>
                      <a:r>
                        <a:rPr lang="en-IN" sz="1800" b="1" u="none" strike="noStrike" cap="none">
                          <a:solidFill>
                            <a:schemeClr val="lt1"/>
                          </a:solidFill>
                          <a:latin typeface="Times New Roman"/>
                          <a:ea typeface="Times New Roman"/>
                          <a:cs typeface="Times New Roman"/>
                          <a:sym typeface="Times New Roman"/>
                        </a:rPr>
                        <a:t>Work</a:t>
                      </a:r>
                      <a:endParaRPr sz="18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lt1"/>
                        </a:buClr>
                        <a:buSzPts val="1800"/>
                        <a:buFont typeface="Times New Roman"/>
                        <a:buNone/>
                      </a:pPr>
                      <a:r>
                        <a:rPr lang="en-IN" sz="1800" b="1" u="none" strike="noStrike" cap="none">
                          <a:solidFill>
                            <a:schemeClr val="lt1"/>
                          </a:solidFill>
                          <a:latin typeface="Times New Roman"/>
                          <a:ea typeface="Times New Roman"/>
                          <a:cs typeface="Times New Roman"/>
                          <a:sym typeface="Times New Roman"/>
                        </a:rPr>
                        <a:t>Decision</a:t>
                      </a:r>
                      <a:endParaRPr sz="18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0"/>
                  </a:ext>
                </a:extLst>
              </a:tr>
              <a:tr h="2937550">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1</a:t>
                      </a: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Image Text to Speech Conversion in the Desired Language (Raspberry Pi)</a:t>
                      </a:r>
                      <a:endParaRPr sz="1400" u="none" strike="noStrike" cap="none"/>
                    </a:p>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[1]</a:t>
                      </a: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Authors: Rithika H., B. Nithya Santhoshi</a:t>
                      </a:r>
                      <a:endParaRPr sz="1400" u="none" strike="noStrike" cap="none"/>
                    </a:p>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Year: 2016 — ICCICR 2016, IEEE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Raspberry Pi</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Tesseract OCR, Google Speech API, Translator, eSpeak</a:t>
                      </a: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Camera, SD card, speaker</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Python</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 Image → OCR → Translate → TTS</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Multilingual (53 languages); useful for travelers &amp; blind users.</a:t>
                      </a:r>
                      <a:endParaRPr sz="1800" u="none" strike="noStrike" cap="none">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1"/>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6"/>
          <p:cNvSpPr txBox="1">
            <a:spLocks noGrp="1"/>
          </p:cNvSpPr>
          <p:nvPr>
            <p:ph type="title"/>
          </p:nvPr>
        </p:nvSpPr>
        <p:spPr>
          <a:xfrm>
            <a:off x="0" y="18255"/>
            <a:ext cx="12192000" cy="1325563"/>
          </a:xfrm>
          <a:prstGeom prst="rect">
            <a:avLst/>
          </a:prstGeom>
          <a:solidFill>
            <a:srgbClr val="1F3864"/>
          </a:solidFill>
          <a:ln>
            <a:noFill/>
          </a:ln>
          <a:effectLst>
            <a:outerShdw blurRad="44450" dist="27940" dir="5400000" algn="ctr">
              <a:srgbClr val="000000">
                <a:alpha val="31372"/>
              </a:srgbClr>
            </a:outerShdw>
          </a:effectLst>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Times New Roman"/>
              <a:buNone/>
            </a:pPr>
            <a:r>
              <a:rPr lang="en-IN" sz="4400" b="1">
                <a:solidFill>
                  <a:schemeClr val="lt1"/>
                </a:solidFill>
                <a:latin typeface="Times New Roman"/>
                <a:ea typeface="Times New Roman"/>
                <a:cs typeface="Times New Roman"/>
                <a:sym typeface="Times New Roman"/>
              </a:rPr>
              <a:t>  Literature Survey</a:t>
            </a:r>
            <a:endParaRPr/>
          </a:p>
        </p:txBody>
      </p:sp>
      <p:graphicFrame>
        <p:nvGraphicFramePr>
          <p:cNvPr id="128" name="Google Shape;128;p6"/>
          <p:cNvGraphicFramePr/>
          <p:nvPr/>
        </p:nvGraphicFramePr>
        <p:xfrm>
          <a:off x="211668" y="1617131"/>
          <a:ext cx="11828000" cy="4157125"/>
        </p:xfrm>
        <a:graphic>
          <a:graphicData uri="http://schemas.openxmlformats.org/drawingml/2006/table">
            <a:tbl>
              <a:tblPr firstRow="1" bandRow="1">
                <a:noFill/>
                <a:tableStyleId>{2BE4A156-D856-4294-9C9A-E00CE88E0922}</a:tableStyleId>
              </a:tblPr>
              <a:tblGrid>
                <a:gridCol w="558800">
                  <a:extLst>
                    <a:ext uri="{9D8B030D-6E8A-4147-A177-3AD203B41FA5}">
                      <a16:colId xmlns:a16="http://schemas.microsoft.com/office/drawing/2014/main" val="20000"/>
                    </a:ext>
                  </a:extLst>
                </a:gridCol>
                <a:gridCol w="1811875">
                  <a:extLst>
                    <a:ext uri="{9D8B030D-6E8A-4147-A177-3AD203B41FA5}">
                      <a16:colId xmlns:a16="http://schemas.microsoft.com/office/drawing/2014/main" val="20001"/>
                    </a:ext>
                  </a:extLst>
                </a:gridCol>
                <a:gridCol w="1571975">
                  <a:extLst>
                    <a:ext uri="{9D8B030D-6E8A-4147-A177-3AD203B41FA5}">
                      <a16:colId xmlns:a16="http://schemas.microsoft.com/office/drawing/2014/main" val="20002"/>
                    </a:ext>
                  </a:extLst>
                </a:gridCol>
                <a:gridCol w="1314225">
                  <a:extLst>
                    <a:ext uri="{9D8B030D-6E8A-4147-A177-3AD203B41FA5}">
                      <a16:colId xmlns:a16="http://schemas.microsoft.com/office/drawing/2014/main" val="20003"/>
                    </a:ext>
                  </a:extLst>
                </a:gridCol>
                <a:gridCol w="1314225">
                  <a:extLst>
                    <a:ext uri="{9D8B030D-6E8A-4147-A177-3AD203B41FA5}">
                      <a16:colId xmlns:a16="http://schemas.microsoft.com/office/drawing/2014/main" val="20004"/>
                    </a:ext>
                  </a:extLst>
                </a:gridCol>
                <a:gridCol w="1314225">
                  <a:extLst>
                    <a:ext uri="{9D8B030D-6E8A-4147-A177-3AD203B41FA5}">
                      <a16:colId xmlns:a16="http://schemas.microsoft.com/office/drawing/2014/main" val="20005"/>
                    </a:ext>
                  </a:extLst>
                </a:gridCol>
                <a:gridCol w="1314225">
                  <a:extLst>
                    <a:ext uri="{9D8B030D-6E8A-4147-A177-3AD203B41FA5}">
                      <a16:colId xmlns:a16="http://schemas.microsoft.com/office/drawing/2014/main" val="20006"/>
                    </a:ext>
                  </a:extLst>
                </a:gridCol>
                <a:gridCol w="1314225">
                  <a:extLst>
                    <a:ext uri="{9D8B030D-6E8A-4147-A177-3AD203B41FA5}">
                      <a16:colId xmlns:a16="http://schemas.microsoft.com/office/drawing/2014/main" val="20007"/>
                    </a:ext>
                  </a:extLst>
                </a:gridCol>
                <a:gridCol w="1314225">
                  <a:extLst>
                    <a:ext uri="{9D8B030D-6E8A-4147-A177-3AD203B41FA5}">
                      <a16:colId xmlns:a16="http://schemas.microsoft.com/office/drawing/2014/main" val="20008"/>
                    </a:ext>
                  </a:extLst>
                </a:gridCol>
              </a:tblGrid>
              <a:tr h="1219575">
                <a:tc>
                  <a:txBody>
                    <a:bodyPr/>
                    <a:lstStyle/>
                    <a:p>
                      <a:pPr marL="0" marR="0" lvl="0" indent="0" algn="l" rtl="0">
                        <a:lnSpc>
                          <a:spcPct val="100000"/>
                        </a:lnSpc>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Sr No.</a:t>
                      </a:r>
                      <a:endParaRPr sz="18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Name of paper</a:t>
                      </a: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Author(s) &amp; Year</a:t>
                      </a:r>
                      <a:endParaRPr sz="18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lt1"/>
                        </a:buClr>
                        <a:buSzPts val="1800"/>
                        <a:buFont typeface="Times New Roman"/>
                        <a:buNone/>
                      </a:pPr>
                      <a:r>
                        <a:rPr lang="en-IN" sz="1800" b="1" u="none" strike="noStrike" cap="none">
                          <a:solidFill>
                            <a:schemeClr val="lt1"/>
                          </a:solidFill>
                          <a:latin typeface="Times New Roman"/>
                          <a:ea typeface="Times New Roman"/>
                          <a:cs typeface="Times New Roman"/>
                          <a:sym typeface="Times New Roman"/>
                        </a:rPr>
                        <a:t>Board</a:t>
                      </a:r>
                      <a:endParaRPr sz="18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lt1"/>
                        </a:buClr>
                        <a:buSzPts val="1800"/>
                        <a:buFont typeface="Times New Roman"/>
                        <a:buNone/>
                      </a:pPr>
                      <a:r>
                        <a:rPr lang="en-IN" sz="1800" b="1" u="none" strike="noStrike" cap="none">
                          <a:solidFill>
                            <a:schemeClr val="lt1"/>
                          </a:solidFill>
                          <a:latin typeface="Times New Roman"/>
                          <a:ea typeface="Times New Roman"/>
                          <a:cs typeface="Times New Roman"/>
                          <a:sym typeface="Times New Roman"/>
                        </a:rPr>
                        <a:t>Libraries</a:t>
                      </a:r>
                      <a:endParaRPr sz="18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lt1"/>
                        </a:buClr>
                        <a:buSzPts val="1800"/>
                        <a:buFont typeface="Times New Roman"/>
                        <a:buNone/>
                      </a:pPr>
                      <a:r>
                        <a:rPr lang="en-IN" sz="1800" b="1" u="none" strike="noStrike" cap="none">
                          <a:solidFill>
                            <a:schemeClr val="lt1"/>
                          </a:solidFill>
                          <a:latin typeface="Times New Roman"/>
                          <a:ea typeface="Times New Roman"/>
                          <a:cs typeface="Times New Roman"/>
                          <a:sym typeface="Times New Roman"/>
                        </a:rPr>
                        <a:t>Hardware</a:t>
                      </a:r>
                      <a:endParaRPr sz="18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lt1"/>
                        </a:buClr>
                        <a:buSzPts val="1800"/>
                        <a:buFont typeface="Times New Roman"/>
                        <a:buNone/>
                      </a:pPr>
                      <a:r>
                        <a:rPr lang="en-IN" sz="1800" b="1" u="none" strike="noStrike" cap="none">
                          <a:solidFill>
                            <a:schemeClr val="lt1"/>
                          </a:solidFill>
                          <a:latin typeface="Times New Roman"/>
                          <a:ea typeface="Times New Roman"/>
                          <a:cs typeface="Times New Roman"/>
                          <a:sym typeface="Times New Roman"/>
                        </a:rPr>
                        <a:t>Software</a:t>
                      </a:r>
                      <a:endParaRPr sz="18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lt1"/>
                        </a:buClr>
                        <a:buSzPts val="1800"/>
                        <a:buFont typeface="Times New Roman"/>
                        <a:buNone/>
                      </a:pPr>
                      <a:r>
                        <a:rPr lang="en-IN" sz="1800" b="1" u="none" strike="noStrike" cap="none">
                          <a:solidFill>
                            <a:schemeClr val="lt1"/>
                          </a:solidFill>
                          <a:latin typeface="Times New Roman"/>
                          <a:ea typeface="Times New Roman"/>
                          <a:cs typeface="Times New Roman"/>
                          <a:sym typeface="Times New Roman"/>
                        </a:rPr>
                        <a:t>Work</a:t>
                      </a:r>
                      <a:endParaRPr sz="18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lt1"/>
                        </a:buClr>
                        <a:buSzPts val="1800"/>
                        <a:buFont typeface="Times New Roman"/>
                        <a:buNone/>
                      </a:pPr>
                      <a:r>
                        <a:rPr lang="en-IN" sz="1800" b="1" u="none" strike="noStrike" cap="none">
                          <a:solidFill>
                            <a:schemeClr val="lt1"/>
                          </a:solidFill>
                          <a:latin typeface="Times New Roman"/>
                          <a:ea typeface="Times New Roman"/>
                          <a:cs typeface="Times New Roman"/>
                          <a:sym typeface="Times New Roman"/>
                        </a:rPr>
                        <a:t>Decision</a:t>
                      </a:r>
                      <a:endParaRPr sz="18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0"/>
                  </a:ext>
                </a:extLst>
              </a:tr>
              <a:tr h="2937550">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2</a:t>
                      </a: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Raspberry Pi Based Intelligent Reader for Visually Impaired Persons</a:t>
                      </a:r>
                      <a:endParaRPr sz="1400" u="none" strike="noStrike" cap="none"/>
                    </a:p>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[2]</a:t>
                      </a: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Authors: Prof. Vaibhav V. Mainkar et al.</a:t>
                      </a:r>
                      <a:endParaRPr sz="1400" u="none" strike="noStrike" cap="none"/>
                    </a:p>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Year: 2020 — ICIMIA 2020, IEEE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Raspberry Pi</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ImageMagick, Tesseract, eSpeak</a:t>
                      </a: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 Pi camera, headset</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 Raspbian, Python</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Image → Process → OCR → TTS</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Accurate reading; works for both colored &amp; grayscale text.</a:t>
                      </a:r>
                      <a:endParaRPr sz="1800" u="none" strike="noStrike" cap="none">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1"/>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7"/>
          <p:cNvSpPr txBox="1">
            <a:spLocks noGrp="1"/>
          </p:cNvSpPr>
          <p:nvPr>
            <p:ph type="title"/>
          </p:nvPr>
        </p:nvSpPr>
        <p:spPr>
          <a:xfrm>
            <a:off x="0" y="18255"/>
            <a:ext cx="12192000" cy="1325563"/>
          </a:xfrm>
          <a:prstGeom prst="rect">
            <a:avLst/>
          </a:prstGeom>
          <a:solidFill>
            <a:srgbClr val="1F3864"/>
          </a:solidFill>
          <a:ln>
            <a:noFill/>
          </a:ln>
          <a:effectLst>
            <a:outerShdw blurRad="44450" dist="27940" dir="5400000" algn="ctr">
              <a:srgbClr val="000000">
                <a:alpha val="31372"/>
              </a:srgbClr>
            </a:outerShdw>
          </a:effectLst>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Times New Roman"/>
              <a:buNone/>
            </a:pPr>
            <a:r>
              <a:rPr lang="en-IN" sz="4400" b="1">
                <a:solidFill>
                  <a:schemeClr val="lt1"/>
                </a:solidFill>
                <a:latin typeface="Times New Roman"/>
                <a:ea typeface="Times New Roman"/>
                <a:cs typeface="Times New Roman"/>
                <a:sym typeface="Times New Roman"/>
              </a:rPr>
              <a:t>  Literature Survey</a:t>
            </a:r>
            <a:endParaRPr/>
          </a:p>
        </p:txBody>
      </p:sp>
      <p:graphicFrame>
        <p:nvGraphicFramePr>
          <p:cNvPr id="134" name="Google Shape;134;p7"/>
          <p:cNvGraphicFramePr/>
          <p:nvPr/>
        </p:nvGraphicFramePr>
        <p:xfrm>
          <a:off x="211668" y="1669086"/>
          <a:ext cx="11828000" cy="4157125"/>
        </p:xfrm>
        <a:graphic>
          <a:graphicData uri="http://schemas.openxmlformats.org/drawingml/2006/table">
            <a:tbl>
              <a:tblPr firstRow="1" bandRow="1">
                <a:noFill/>
                <a:tableStyleId>{2BE4A156-D856-4294-9C9A-E00CE88E0922}</a:tableStyleId>
              </a:tblPr>
              <a:tblGrid>
                <a:gridCol w="558800">
                  <a:extLst>
                    <a:ext uri="{9D8B030D-6E8A-4147-A177-3AD203B41FA5}">
                      <a16:colId xmlns:a16="http://schemas.microsoft.com/office/drawing/2014/main" val="20000"/>
                    </a:ext>
                  </a:extLst>
                </a:gridCol>
                <a:gridCol w="1775200">
                  <a:extLst>
                    <a:ext uri="{9D8B030D-6E8A-4147-A177-3AD203B41FA5}">
                      <a16:colId xmlns:a16="http://schemas.microsoft.com/office/drawing/2014/main" val="20001"/>
                    </a:ext>
                  </a:extLst>
                </a:gridCol>
                <a:gridCol w="1504750">
                  <a:extLst>
                    <a:ext uri="{9D8B030D-6E8A-4147-A177-3AD203B41FA5}">
                      <a16:colId xmlns:a16="http://schemas.microsoft.com/office/drawing/2014/main" val="20002"/>
                    </a:ext>
                  </a:extLst>
                </a:gridCol>
                <a:gridCol w="1418125">
                  <a:extLst>
                    <a:ext uri="{9D8B030D-6E8A-4147-A177-3AD203B41FA5}">
                      <a16:colId xmlns:a16="http://schemas.microsoft.com/office/drawing/2014/main" val="20003"/>
                    </a:ext>
                  </a:extLst>
                </a:gridCol>
                <a:gridCol w="1314225">
                  <a:extLst>
                    <a:ext uri="{9D8B030D-6E8A-4147-A177-3AD203B41FA5}">
                      <a16:colId xmlns:a16="http://schemas.microsoft.com/office/drawing/2014/main" val="20004"/>
                    </a:ext>
                  </a:extLst>
                </a:gridCol>
                <a:gridCol w="1314225">
                  <a:extLst>
                    <a:ext uri="{9D8B030D-6E8A-4147-A177-3AD203B41FA5}">
                      <a16:colId xmlns:a16="http://schemas.microsoft.com/office/drawing/2014/main" val="20005"/>
                    </a:ext>
                  </a:extLst>
                </a:gridCol>
                <a:gridCol w="1314225">
                  <a:extLst>
                    <a:ext uri="{9D8B030D-6E8A-4147-A177-3AD203B41FA5}">
                      <a16:colId xmlns:a16="http://schemas.microsoft.com/office/drawing/2014/main" val="20006"/>
                    </a:ext>
                  </a:extLst>
                </a:gridCol>
                <a:gridCol w="1244950">
                  <a:extLst>
                    <a:ext uri="{9D8B030D-6E8A-4147-A177-3AD203B41FA5}">
                      <a16:colId xmlns:a16="http://schemas.microsoft.com/office/drawing/2014/main" val="20007"/>
                    </a:ext>
                  </a:extLst>
                </a:gridCol>
                <a:gridCol w="1383500">
                  <a:extLst>
                    <a:ext uri="{9D8B030D-6E8A-4147-A177-3AD203B41FA5}">
                      <a16:colId xmlns:a16="http://schemas.microsoft.com/office/drawing/2014/main" val="20008"/>
                    </a:ext>
                  </a:extLst>
                </a:gridCol>
              </a:tblGrid>
              <a:tr h="1219575">
                <a:tc>
                  <a:txBody>
                    <a:bodyPr/>
                    <a:lstStyle/>
                    <a:p>
                      <a:pPr marL="0" marR="0" lvl="0" indent="0" algn="l" rtl="0">
                        <a:lnSpc>
                          <a:spcPct val="100000"/>
                        </a:lnSpc>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Sr No.</a:t>
                      </a:r>
                      <a:endParaRPr sz="18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Name of paper</a:t>
                      </a: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Author(s) &amp; Year</a:t>
                      </a:r>
                      <a:endParaRPr sz="18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lt1"/>
                        </a:buClr>
                        <a:buSzPts val="1800"/>
                        <a:buFont typeface="Times New Roman"/>
                        <a:buNone/>
                      </a:pPr>
                      <a:r>
                        <a:rPr lang="en-IN" sz="1800" b="1" u="none" strike="noStrike" cap="none">
                          <a:solidFill>
                            <a:schemeClr val="lt1"/>
                          </a:solidFill>
                          <a:latin typeface="Times New Roman"/>
                          <a:ea typeface="Times New Roman"/>
                          <a:cs typeface="Times New Roman"/>
                          <a:sym typeface="Times New Roman"/>
                        </a:rPr>
                        <a:t>Board</a:t>
                      </a:r>
                      <a:endParaRPr sz="18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lt1"/>
                        </a:buClr>
                        <a:buSzPts val="1800"/>
                        <a:buFont typeface="Times New Roman"/>
                        <a:buNone/>
                      </a:pPr>
                      <a:r>
                        <a:rPr lang="en-IN" sz="1800" b="1" u="none" strike="noStrike" cap="none">
                          <a:solidFill>
                            <a:schemeClr val="lt1"/>
                          </a:solidFill>
                          <a:latin typeface="Times New Roman"/>
                          <a:ea typeface="Times New Roman"/>
                          <a:cs typeface="Times New Roman"/>
                          <a:sym typeface="Times New Roman"/>
                        </a:rPr>
                        <a:t>Libraries</a:t>
                      </a:r>
                      <a:endParaRPr sz="18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lt1"/>
                        </a:buClr>
                        <a:buSzPts val="1800"/>
                        <a:buFont typeface="Times New Roman"/>
                        <a:buNone/>
                      </a:pPr>
                      <a:r>
                        <a:rPr lang="en-IN" sz="1800" b="1" u="none" strike="noStrike" cap="none">
                          <a:solidFill>
                            <a:schemeClr val="lt1"/>
                          </a:solidFill>
                          <a:latin typeface="Times New Roman"/>
                          <a:ea typeface="Times New Roman"/>
                          <a:cs typeface="Times New Roman"/>
                          <a:sym typeface="Times New Roman"/>
                        </a:rPr>
                        <a:t>Hardware</a:t>
                      </a:r>
                      <a:endParaRPr sz="18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lt1"/>
                        </a:buClr>
                        <a:buSzPts val="1800"/>
                        <a:buFont typeface="Times New Roman"/>
                        <a:buNone/>
                      </a:pPr>
                      <a:r>
                        <a:rPr lang="en-IN" sz="1800" b="1" u="none" strike="noStrike" cap="none">
                          <a:solidFill>
                            <a:schemeClr val="lt1"/>
                          </a:solidFill>
                          <a:latin typeface="Times New Roman"/>
                          <a:ea typeface="Times New Roman"/>
                          <a:cs typeface="Times New Roman"/>
                          <a:sym typeface="Times New Roman"/>
                        </a:rPr>
                        <a:t>Software</a:t>
                      </a:r>
                      <a:endParaRPr sz="18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lt1"/>
                        </a:buClr>
                        <a:buSzPts val="1800"/>
                        <a:buFont typeface="Times New Roman"/>
                        <a:buNone/>
                      </a:pPr>
                      <a:r>
                        <a:rPr lang="en-IN" sz="1800" b="1" u="none" strike="noStrike" cap="none">
                          <a:solidFill>
                            <a:schemeClr val="lt1"/>
                          </a:solidFill>
                          <a:latin typeface="Times New Roman"/>
                          <a:ea typeface="Times New Roman"/>
                          <a:cs typeface="Times New Roman"/>
                          <a:sym typeface="Times New Roman"/>
                        </a:rPr>
                        <a:t>Work</a:t>
                      </a:r>
                      <a:endParaRPr sz="18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lt1"/>
                        </a:buClr>
                        <a:buSzPts val="1800"/>
                        <a:buFont typeface="Times New Roman"/>
                        <a:buNone/>
                      </a:pPr>
                      <a:r>
                        <a:rPr lang="en-IN" sz="1800" b="1" u="none" strike="noStrike" cap="none">
                          <a:solidFill>
                            <a:schemeClr val="lt1"/>
                          </a:solidFill>
                          <a:latin typeface="Times New Roman"/>
                          <a:ea typeface="Times New Roman"/>
                          <a:cs typeface="Times New Roman"/>
                          <a:sym typeface="Times New Roman"/>
                        </a:rPr>
                        <a:t>Decision</a:t>
                      </a:r>
                      <a:endParaRPr sz="18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0"/>
                  </a:ext>
                </a:extLst>
              </a:tr>
              <a:tr h="2937550">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3</a:t>
                      </a: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Reading  and Translator with Raspberry Pi for Blind People</a:t>
                      </a:r>
                      <a:endParaRPr sz="1400" u="none" strike="noStrike" cap="none"/>
                    </a:p>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[3]</a:t>
                      </a: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Authors: Vagdevi Adusumilli et al.</a:t>
                      </a:r>
                      <a:endParaRPr sz="1400" u="none" strike="noStrike" cap="none"/>
                    </a:p>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Year: 2023 — ICACCS 2023, IEEE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 Raspberry Pi</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Tesseract OCR, eSpeak</a:t>
                      </a: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Camera, earphones</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 Python</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 Image → OCR → Translate → Speech</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English–Telugu reader; simple, self-operable.</a:t>
                      </a:r>
                      <a:endParaRPr sz="1800" u="none" strike="noStrike" cap="none">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1"/>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8"/>
          <p:cNvSpPr txBox="1">
            <a:spLocks noGrp="1"/>
          </p:cNvSpPr>
          <p:nvPr>
            <p:ph type="title"/>
          </p:nvPr>
        </p:nvSpPr>
        <p:spPr>
          <a:xfrm>
            <a:off x="0" y="18255"/>
            <a:ext cx="12192000" cy="1325563"/>
          </a:xfrm>
          <a:prstGeom prst="rect">
            <a:avLst/>
          </a:prstGeom>
          <a:solidFill>
            <a:srgbClr val="1F3864"/>
          </a:solidFill>
          <a:ln>
            <a:noFill/>
          </a:ln>
          <a:effectLst>
            <a:outerShdw blurRad="44450" dist="27940" dir="5400000" algn="ctr">
              <a:srgbClr val="000000">
                <a:alpha val="31372"/>
              </a:srgbClr>
            </a:outerShdw>
          </a:effectLst>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Times New Roman"/>
              <a:buNone/>
            </a:pPr>
            <a:r>
              <a:rPr lang="en-IN" sz="4400" b="1">
                <a:solidFill>
                  <a:schemeClr val="lt1"/>
                </a:solidFill>
                <a:latin typeface="Times New Roman"/>
                <a:ea typeface="Times New Roman"/>
                <a:cs typeface="Times New Roman"/>
                <a:sym typeface="Times New Roman"/>
              </a:rPr>
              <a:t>  Literature Survey</a:t>
            </a:r>
            <a:endParaRPr/>
          </a:p>
        </p:txBody>
      </p:sp>
      <p:graphicFrame>
        <p:nvGraphicFramePr>
          <p:cNvPr id="140" name="Google Shape;140;p8"/>
          <p:cNvGraphicFramePr/>
          <p:nvPr/>
        </p:nvGraphicFramePr>
        <p:xfrm>
          <a:off x="180343" y="1617131"/>
          <a:ext cx="11859325" cy="4157125"/>
        </p:xfrm>
        <a:graphic>
          <a:graphicData uri="http://schemas.openxmlformats.org/drawingml/2006/table">
            <a:tbl>
              <a:tblPr firstRow="1" bandRow="1">
                <a:noFill/>
                <a:tableStyleId>{2BE4A156-D856-4294-9C9A-E00CE88E0922}</a:tableStyleId>
              </a:tblPr>
              <a:tblGrid>
                <a:gridCol w="590125">
                  <a:extLst>
                    <a:ext uri="{9D8B030D-6E8A-4147-A177-3AD203B41FA5}">
                      <a16:colId xmlns:a16="http://schemas.microsoft.com/office/drawing/2014/main" val="20000"/>
                    </a:ext>
                  </a:extLst>
                </a:gridCol>
                <a:gridCol w="2069625">
                  <a:extLst>
                    <a:ext uri="{9D8B030D-6E8A-4147-A177-3AD203B41FA5}">
                      <a16:colId xmlns:a16="http://schemas.microsoft.com/office/drawing/2014/main" val="20001"/>
                    </a:ext>
                  </a:extLst>
                </a:gridCol>
                <a:gridCol w="1314225">
                  <a:extLst>
                    <a:ext uri="{9D8B030D-6E8A-4147-A177-3AD203B41FA5}">
                      <a16:colId xmlns:a16="http://schemas.microsoft.com/office/drawing/2014/main" val="20002"/>
                    </a:ext>
                  </a:extLst>
                </a:gridCol>
                <a:gridCol w="1314225">
                  <a:extLst>
                    <a:ext uri="{9D8B030D-6E8A-4147-A177-3AD203B41FA5}">
                      <a16:colId xmlns:a16="http://schemas.microsoft.com/office/drawing/2014/main" val="20003"/>
                    </a:ext>
                  </a:extLst>
                </a:gridCol>
                <a:gridCol w="1314225">
                  <a:extLst>
                    <a:ext uri="{9D8B030D-6E8A-4147-A177-3AD203B41FA5}">
                      <a16:colId xmlns:a16="http://schemas.microsoft.com/office/drawing/2014/main" val="20004"/>
                    </a:ext>
                  </a:extLst>
                </a:gridCol>
                <a:gridCol w="1314225">
                  <a:extLst>
                    <a:ext uri="{9D8B030D-6E8A-4147-A177-3AD203B41FA5}">
                      <a16:colId xmlns:a16="http://schemas.microsoft.com/office/drawing/2014/main" val="20005"/>
                    </a:ext>
                  </a:extLst>
                </a:gridCol>
                <a:gridCol w="1314225">
                  <a:extLst>
                    <a:ext uri="{9D8B030D-6E8A-4147-A177-3AD203B41FA5}">
                      <a16:colId xmlns:a16="http://schemas.microsoft.com/office/drawing/2014/main" val="20006"/>
                    </a:ext>
                  </a:extLst>
                </a:gridCol>
                <a:gridCol w="1314225">
                  <a:extLst>
                    <a:ext uri="{9D8B030D-6E8A-4147-A177-3AD203B41FA5}">
                      <a16:colId xmlns:a16="http://schemas.microsoft.com/office/drawing/2014/main" val="20007"/>
                    </a:ext>
                  </a:extLst>
                </a:gridCol>
                <a:gridCol w="1314225">
                  <a:extLst>
                    <a:ext uri="{9D8B030D-6E8A-4147-A177-3AD203B41FA5}">
                      <a16:colId xmlns:a16="http://schemas.microsoft.com/office/drawing/2014/main" val="20008"/>
                    </a:ext>
                  </a:extLst>
                </a:gridCol>
              </a:tblGrid>
              <a:tr h="1219575">
                <a:tc>
                  <a:txBody>
                    <a:bodyPr/>
                    <a:lstStyle/>
                    <a:p>
                      <a:pPr marL="0" marR="0" lvl="0" indent="0" algn="l" rtl="0">
                        <a:lnSpc>
                          <a:spcPct val="100000"/>
                        </a:lnSpc>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Sr No.</a:t>
                      </a:r>
                      <a:endParaRPr sz="18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Name of paper</a:t>
                      </a: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Author(s) &amp; Year</a:t>
                      </a:r>
                      <a:endParaRPr sz="18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lt1"/>
                        </a:buClr>
                        <a:buSzPts val="1800"/>
                        <a:buFont typeface="Times New Roman"/>
                        <a:buNone/>
                      </a:pPr>
                      <a:r>
                        <a:rPr lang="en-IN" sz="1800" b="1" u="none" strike="noStrike" cap="none">
                          <a:solidFill>
                            <a:schemeClr val="lt1"/>
                          </a:solidFill>
                          <a:latin typeface="Times New Roman"/>
                          <a:ea typeface="Times New Roman"/>
                          <a:cs typeface="Times New Roman"/>
                          <a:sym typeface="Times New Roman"/>
                        </a:rPr>
                        <a:t>Board</a:t>
                      </a:r>
                      <a:endParaRPr sz="18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lt1"/>
                        </a:buClr>
                        <a:buSzPts val="1800"/>
                        <a:buFont typeface="Times New Roman"/>
                        <a:buNone/>
                      </a:pPr>
                      <a:r>
                        <a:rPr lang="en-IN" sz="1800" b="1" u="none" strike="noStrike" cap="none">
                          <a:solidFill>
                            <a:schemeClr val="lt1"/>
                          </a:solidFill>
                          <a:latin typeface="Times New Roman"/>
                          <a:ea typeface="Times New Roman"/>
                          <a:cs typeface="Times New Roman"/>
                          <a:sym typeface="Times New Roman"/>
                        </a:rPr>
                        <a:t>Libraries</a:t>
                      </a:r>
                      <a:endParaRPr sz="18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lt1"/>
                        </a:buClr>
                        <a:buSzPts val="1800"/>
                        <a:buFont typeface="Times New Roman"/>
                        <a:buNone/>
                      </a:pPr>
                      <a:r>
                        <a:rPr lang="en-IN" sz="1800" b="1" u="none" strike="noStrike" cap="none">
                          <a:solidFill>
                            <a:schemeClr val="lt1"/>
                          </a:solidFill>
                          <a:latin typeface="Times New Roman"/>
                          <a:ea typeface="Times New Roman"/>
                          <a:cs typeface="Times New Roman"/>
                          <a:sym typeface="Times New Roman"/>
                        </a:rPr>
                        <a:t>Hardware</a:t>
                      </a:r>
                      <a:endParaRPr sz="18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lt1"/>
                        </a:buClr>
                        <a:buSzPts val="1800"/>
                        <a:buFont typeface="Times New Roman"/>
                        <a:buNone/>
                      </a:pPr>
                      <a:r>
                        <a:rPr lang="en-IN" sz="1800" b="1" u="none" strike="noStrike" cap="none">
                          <a:solidFill>
                            <a:schemeClr val="lt1"/>
                          </a:solidFill>
                          <a:latin typeface="Times New Roman"/>
                          <a:ea typeface="Times New Roman"/>
                          <a:cs typeface="Times New Roman"/>
                          <a:sym typeface="Times New Roman"/>
                        </a:rPr>
                        <a:t>Software</a:t>
                      </a:r>
                      <a:endParaRPr sz="18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lt1"/>
                        </a:buClr>
                        <a:buSzPts val="1800"/>
                        <a:buFont typeface="Times New Roman"/>
                        <a:buNone/>
                      </a:pPr>
                      <a:r>
                        <a:rPr lang="en-IN" sz="1800" b="1" u="none" strike="noStrike" cap="none">
                          <a:solidFill>
                            <a:schemeClr val="lt1"/>
                          </a:solidFill>
                          <a:latin typeface="Times New Roman"/>
                          <a:ea typeface="Times New Roman"/>
                          <a:cs typeface="Times New Roman"/>
                          <a:sym typeface="Times New Roman"/>
                        </a:rPr>
                        <a:t>Work</a:t>
                      </a:r>
                      <a:endParaRPr sz="18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lt1"/>
                        </a:buClr>
                        <a:buSzPts val="1800"/>
                        <a:buFont typeface="Times New Roman"/>
                        <a:buNone/>
                      </a:pPr>
                      <a:r>
                        <a:rPr lang="en-IN" sz="1800" b="1" u="none" strike="noStrike" cap="none">
                          <a:solidFill>
                            <a:schemeClr val="lt1"/>
                          </a:solidFill>
                          <a:latin typeface="Times New Roman"/>
                          <a:ea typeface="Times New Roman"/>
                          <a:cs typeface="Times New Roman"/>
                          <a:sym typeface="Times New Roman"/>
                        </a:rPr>
                        <a:t>Decision</a:t>
                      </a:r>
                      <a:endParaRPr sz="18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0"/>
                  </a:ext>
                </a:extLst>
              </a:tr>
              <a:tr h="2937550">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4</a:t>
                      </a: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 Regional Language Reading Aid for Blind People using Raspberry Pi</a:t>
                      </a:r>
                      <a:endParaRPr sz="1400" u="none" strike="noStrike" cap="none"/>
                    </a:p>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[4]</a:t>
                      </a: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Authors: N. Sathish Kumar, V. Nithish, P. Roshan Acharya, V. Raswanth</a:t>
                      </a:r>
                      <a:endParaRPr sz="1400" u="none" strike="noStrike" cap="none"/>
                    </a:p>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Year: 2024 — SCOPES 2024, IEEE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 Raspberry Pi B+</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OCR, Text-to-Voice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Pi camera, earphones</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Python</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Image → OCR → TTV</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93% accuracy; multi-language; low-cost solution.</a:t>
                      </a:r>
                      <a:endParaRPr sz="1800" u="none" strike="noStrike" cap="none">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1"/>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9"/>
          <p:cNvSpPr txBox="1">
            <a:spLocks noGrp="1"/>
          </p:cNvSpPr>
          <p:nvPr>
            <p:ph type="title"/>
          </p:nvPr>
        </p:nvSpPr>
        <p:spPr>
          <a:xfrm>
            <a:off x="0" y="18255"/>
            <a:ext cx="12192000" cy="1325563"/>
          </a:xfrm>
          <a:prstGeom prst="rect">
            <a:avLst/>
          </a:prstGeom>
          <a:solidFill>
            <a:srgbClr val="1F3864"/>
          </a:solidFill>
          <a:ln>
            <a:noFill/>
          </a:ln>
          <a:effectLst>
            <a:outerShdw blurRad="44450" dist="27940" dir="5400000" algn="ctr">
              <a:srgbClr val="000000">
                <a:alpha val="31372"/>
              </a:srgbClr>
            </a:outerShdw>
          </a:effectLst>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Times New Roman"/>
              <a:buNone/>
            </a:pPr>
            <a:r>
              <a:rPr lang="en-IN" sz="4400" b="1">
                <a:solidFill>
                  <a:schemeClr val="lt1"/>
                </a:solidFill>
                <a:latin typeface="Times New Roman"/>
                <a:ea typeface="Times New Roman"/>
                <a:cs typeface="Times New Roman"/>
                <a:sym typeface="Times New Roman"/>
              </a:rPr>
              <a:t>  Literature Survey</a:t>
            </a:r>
            <a:endParaRPr/>
          </a:p>
        </p:txBody>
      </p:sp>
      <p:graphicFrame>
        <p:nvGraphicFramePr>
          <p:cNvPr id="146" name="Google Shape;146;p9"/>
          <p:cNvGraphicFramePr/>
          <p:nvPr/>
        </p:nvGraphicFramePr>
        <p:xfrm>
          <a:off x="211668" y="1617131"/>
          <a:ext cx="11828000" cy="4328545"/>
        </p:xfrm>
        <a:graphic>
          <a:graphicData uri="http://schemas.openxmlformats.org/drawingml/2006/table">
            <a:tbl>
              <a:tblPr firstRow="1" bandRow="1">
                <a:noFill/>
                <a:tableStyleId>{2BE4A156-D856-4294-9C9A-E00CE88E0922}</a:tableStyleId>
              </a:tblPr>
              <a:tblGrid>
                <a:gridCol w="558800">
                  <a:extLst>
                    <a:ext uri="{9D8B030D-6E8A-4147-A177-3AD203B41FA5}">
                      <a16:colId xmlns:a16="http://schemas.microsoft.com/office/drawing/2014/main" val="20000"/>
                    </a:ext>
                  </a:extLst>
                </a:gridCol>
                <a:gridCol w="1667925">
                  <a:extLst>
                    <a:ext uri="{9D8B030D-6E8A-4147-A177-3AD203B41FA5}">
                      <a16:colId xmlns:a16="http://schemas.microsoft.com/office/drawing/2014/main" val="20001"/>
                    </a:ext>
                  </a:extLst>
                </a:gridCol>
                <a:gridCol w="1715925">
                  <a:extLst>
                    <a:ext uri="{9D8B030D-6E8A-4147-A177-3AD203B41FA5}">
                      <a16:colId xmlns:a16="http://schemas.microsoft.com/office/drawing/2014/main" val="20002"/>
                    </a:ext>
                  </a:extLst>
                </a:gridCol>
                <a:gridCol w="1314225">
                  <a:extLst>
                    <a:ext uri="{9D8B030D-6E8A-4147-A177-3AD203B41FA5}">
                      <a16:colId xmlns:a16="http://schemas.microsoft.com/office/drawing/2014/main" val="20003"/>
                    </a:ext>
                  </a:extLst>
                </a:gridCol>
                <a:gridCol w="1314225">
                  <a:extLst>
                    <a:ext uri="{9D8B030D-6E8A-4147-A177-3AD203B41FA5}">
                      <a16:colId xmlns:a16="http://schemas.microsoft.com/office/drawing/2014/main" val="20004"/>
                    </a:ext>
                  </a:extLst>
                </a:gridCol>
                <a:gridCol w="1314225">
                  <a:extLst>
                    <a:ext uri="{9D8B030D-6E8A-4147-A177-3AD203B41FA5}">
                      <a16:colId xmlns:a16="http://schemas.microsoft.com/office/drawing/2014/main" val="20005"/>
                    </a:ext>
                  </a:extLst>
                </a:gridCol>
                <a:gridCol w="1314225">
                  <a:extLst>
                    <a:ext uri="{9D8B030D-6E8A-4147-A177-3AD203B41FA5}">
                      <a16:colId xmlns:a16="http://schemas.microsoft.com/office/drawing/2014/main" val="20006"/>
                    </a:ext>
                  </a:extLst>
                </a:gridCol>
                <a:gridCol w="1314225">
                  <a:extLst>
                    <a:ext uri="{9D8B030D-6E8A-4147-A177-3AD203B41FA5}">
                      <a16:colId xmlns:a16="http://schemas.microsoft.com/office/drawing/2014/main" val="20007"/>
                    </a:ext>
                  </a:extLst>
                </a:gridCol>
                <a:gridCol w="1314225">
                  <a:extLst>
                    <a:ext uri="{9D8B030D-6E8A-4147-A177-3AD203B41FA5}">
                      <a16:colId xmlns:a16="http://schemas.microsoft.com/office/drawing/2014/main" val="20008"/>
                    </a:ext>
                  </a:extLst>
                </a:gridCol>
              </a:tblGrid>
              <a:tr h="1219575">
                <a:tc>
                  <a:txBody>
                    <a:bodyPr/>
                    <a:lstStyle/>
                    <a:p>
                      <a:pPr marL="0" marR="0" lvl="0" indent="0" algn="l" rtl="0">
                        <a:lnSpc>
                          <a:spcPct val="100000"/>
                        </a:lnSpc>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Sr No.</a:t>
                      </a:r>
                      <a:endParaRPr sz="18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Name of paper</a:t>
                      </a: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Author(s) &amp; Year</a:t>
                      </a:r>
                      <a:endParaRPr sz="18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lt1"/>
                        </a:buClr>
                        <a:buSzPts val="1800"/>
                        <a:buFont typeface="Times New Roman"/>
                        <a:buNone/>
                      </a:pPr>
                      <a:r>
                        <a:rPr lang="en-IN" sz="1800" b="1" u="none" strike="noStrike" cap="none">
                          <a:solidFill>
                            <a:schemeClr val="lt1"/>
                          </a:solidFill>
                          <a:latin typeface="Times New Roman"/>
                          <a:ea typeface="Times New Roman"/>
                          <a:cs typeface="Times New Roman"/>
                          <a:sym typeface="Times New Roman"/>
                        </a:rPr>
                        <a:t>Board</a:t>
                      </a:r>
                      <a:endParaRPr sz="18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lt1"/>
                        </a:buClr>
                        <a:buSzPts val="1800"/>
                        <a:buFont typeface="Times New Roman"/>
                        <a:buNone/>
                      </a:pPr>
                      <a:r>
                        <a:rPr lang="en-IN" sz="1800" b="1" u="none" strike="noStrike" cap="none">
                          <a:solidFill>
                            <a:schemeClr val="lt1"/>
                          </a:solidFill>
                          <a:latin typeface="Times New Roman"/>
                          <a:ea typeface="Times New Roman"/>
                          <a:cs typeface="Times New Roman"/>
                          <a:sym typeface="Times New Roman"/>
                        </a:rPr>
                        <a:t>Libraries</a:t>
                      </a:r>
                      <a:endParaRPr sz="18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lt1"/>
                        </a:buClr>
                        <a:buSzPts val="1800"/>
                        <a:buFont typeface="Times New Roman"/>
                        <a:buNone/>
                      </a:pPr>
                      <a:r>
                        <a:rPr lang="en-IN" sz="1800" b="1" u="none" strike="noStrike" cap="none">
                          <a:solidFill>
                            <a:schemeClr val="lt1"/>
                          </a:solidFill>
                          <a:latin typeface="Times New Roman"/>
                          <a:ea typeface="Times New Roman"/>
                          <a:cs typeface="Times New Roman"/>
                          <a:sym typeface="Times New Roman"/>
                        </a:rPr>
                        <a:t>Hardware</a:t>
                      </a:r>
                      <a:endParaRPr sz="18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lt1"/>
                        </a:buClr>
                        <a:buSzPts val="1800"/>
                        <a:buFont typeface="Times New Roman"/>
                        <a:buNone/>
                      </a:pPr>
                      <a:r>
                        <a:rPr lang="en-IN" sz="1800" b="1" u="none" strike="noStrike" cap="none">
                          <a:solidFill>
                            <a:schemeClr val="lt1"/>
                          </a:solidFill>
                          <a:latin typeface="Times New Roman"/>
                          <a:ea typeface="Times New Roman"/>
                          <a:cs typeface="Times New Roman"/>
                          <a:sym typeface="Times New Roman"/>
                        </a:rPr>
                        <a:t>Software</a:t>
                      </a:r>
                      <a:endParaRPr sz="18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lt1"/>
                        </a:buClr>
                        <a:buSzPts val="1800"/>
                        <a:buFont typeface="Times New Roman"/>
                        <a:buNone/>
                      </a:pPr>
                      <a:r>
                        <a:rPr lang="en-IN" sz="1800" b="1" u="none" strike="noStrike" cap="none">
                          <a:solidFill>
                            <a:schemeClr val="lt1"/>
                          </a:solidFill>
                          <a:latin typeface="Times New Roman"/>
                          <a:ea typeface="Times New Roman"/>
                          <a:cs typeface="Times New Roman"/>
                          <a:sym typeface="Times New Roman"/>
                        </a:rPr>
                        <a:t>Work</a:t>
                      </a:r>
                      <a:endParaRPr sz="18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lt1"/>
                        </a:buClr>
                        <a:buSzPts val="1800"/>
                        <a:buFont typeface="Times New Roman"/>
                        <a:buNone/>
                      </a:pPr>
                      <a:r>
                        <a:rPr lang="en-IN" sz="1800" b="1" u="none" strike="noStrike" cap="none">
                          <a:solidFill>
                            <a:schemeClr val="lt1"/>
                          </a:solidFill>
                          <a:latin typeface="Times New Roman"/>
                          <a:ea typeface="Times New Roman"/>
                          <a:cs typeface="Times New Roman"/>
                          <a:sym typeface="Times New Roman"/>
                        </a:rPr>
                        <a:t>Decision</a:t>
                      </a:r>
                      <a:endParaRPr sz="18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0"/>
                  </a:ext>
                </a:extLst>
              </a:tr>
              <a:tr h="2937550">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5</a:t>
                      </a: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Vision Voice: Raspberry Pi-Based Text-to-Audio Converter</a:t>
                      </a:r>
                      <a:endParaRPr sz="1400" u="none" strike="noStrike" cap="none"/>
                    </a:p>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[5]</a:t>
                      </a: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Prof. Kaushalya Thopate, Shaunak Karvir, Kavya Amrutkar, Omkar Kumbhar, Tarun KasliwalYear: 2024 — INNOCOMP 2024, IEEE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Raspberry Pi 3</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Tesseract, TTS engine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Camera, speaker</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 Python</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 OCR → TTS → Audio</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Efficient OCR-TTS integration; ideal for blind users.</a:t>
                      </a:r>
                      <a:endParaRPr sz="1400" u="none" strike="noStrike" cap="none"/>
                    </a:p>
                  </a:txBody>
                  <a:tcPr marL="91450" marR="91450" marT="45725" marB="45725"/>
                </a:tc>
                <a:extLst>
                  <a:ext uri="{0D108BD9-81ED-4DB2-BD59-A6C34878D82A}">
                    <a16:rowId xmlns:a16="http://schemas.microsoft.com/office/drawing/2014/main" val="10001"/>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10"/>
          <p:cNvSpPr txBox="1">
            <a:spLocks noGrp="1"/>
          </p:cNvSpPr>
          <p:nvPr>
            <p:ph type="title"/>
          </p:nvPr>
        </p:nvSpPr>
        <p:spPr>
          <a:xfrm>
            <a:off x="0" y="18255"/>
            <a:ext cx="12192000" cy="1325563"/>
          </a:xfrm>
          <a:prstGeom prst="rect">
            <a:avLst/>
          </a:prstGeom>
          <a:solidFill>
            <a:srgbClr val="1F3864"/>
          </a:solidFill>
          <a:ln>
            <a:noFill/>
          </a:ln>
          <a:effectLst>
            <a:outerShdw blurRad="44450" dist="27940" dir="5400000" algn="ctr">
              <a:srgbClr val="000000">
                <a:alpha val="31372"/>
              </a:srgbClr>
            </a:outerShdw>
          </a:effectLst>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Times New Roman"/>
              <a:buNone/>
            </a:pPr>
            <a:r>
              <a:rPr lang="en-IN" sz="4400" b="1">
                <a:solidFill>
                  <a:schemeClr val="lt1"/>
                </a:solidFill>
                <a:latin typeface="Times New Roman"/>
                <a:ea typeface="Times New Roman"/>
                <a:cs typeface="Times New Roman"/>
                <a:sym typeface="Times New Roman"/>
              </a:rPr>
              <a:t>  Literature Survey</a:t>
            </a:r>
            <a:endParaRPr/>
          </a:p>
        </p:txBody>
      </p:sp>
      <p:graphicFrame>
        <p:nvGraphicFramePr>
          <p:cNvPr id="152" name="Google Shape;152;p10"/>
          <p:cNvGraphicFramePr/>
          <p:nvPr/>
        </p:nvGraphicFramePr>
        <p:xfrm>
          <a:off x="211668" y="1617131"/>
          <a:ext cx="11828000" cy="4157125"/>
        </p:xfrm>
        <a:graphic>
          <a:graphicData uri="http://schemas.openxmlformats.org/drawingml/2006/table">
            <a:tbl>
              <a:tblPr firstRow="1" bandRow="1">
                <a:noFill/>
                <a:tableStyleId>{2BE4A156-D856-4294-9C9A-E00CE88E0922}</a:tableStyleId>
              </a:tblPr>
              <a:tblGrid>
                <a:gridCol w="558800">
                  <a:extLst>
                    <a:ext uri="{9D8B030D-6E8A-4147-A177-3AD203B41FA5}">
                      <a16:colId xmlns:a16="http://schemas.microsoft.com/office/drawing/2014/main" val="20000"/>
                    </a:ext>
                  </a:extLst>
                </a:gridCol>
                <a:gridCol w="2069625">
                  <a:extLst>
                    <a:ext uri="{9D8B030D-6E8A-4147-A177-3AD203B41FA5}">
                      <a16:colId xmlns:a16="http://schemas.microsoft.com/office/drawing/2014/main" val="20001"/>
                    </a:ext>
                  </a:extLst>
                </a:gridCol>
                <a:gridCol w="1314225">
                  <a:extLst>
                    <a:ext uri="{9D8B030D-6E8A-4147-A177-3AD203B41FA5}">
                      <a16:colId xmlns:a16="http://schemas.microsoft.com/office/drawing/2014/main" val="20002"/>
                    </a:ext>
                  </a:extLst>
                </a:gridCol>
                <a:gridCol w="1314225">
                  <a:extLst>
                    <a:ext uri="{9D8B030D-6E8A-4147-A177-3AD203B41FA5}">
                      <a16:colId xmlns:a16="http://schemas.microsoft.com/office/drawing/2014/main" val="20003"/>
                    </a:ext>
                  </a:extLst>
                </a:gridCol>
                <a:gridCol w="1314225">
                  <a:extLst>
                    <a:ext uri="{9D8B030D-6E8A-4147-A177-3AD203B41FA5}">
                      <a16:colId xmlns:a16="http://schemas.microsoft.com/office/drawing/2014/main" val="20004"/>
                    </a:ext>
                  </a:extLst>
                </a:gridCol>
                <a:gridCol w="1314225">
                  <a:extLst>
                    <a:ext uri="{9D8B030D-6E8A-4147-A177-3AD203B41FA5}">
                      <a16:colId xmlns:a16="http://schemas.microsoft.com/office/drawing/2014/main" val="20005"/>
                    </a:ext>
                  </a:extLst>
                </a:gridCol>
                <a:gridCol w="1314225">
                  <a:extLst>
                    <a:ext uri="{9D8B030D-6E8A-4147-A177-3AD203B41FA5}">
                      <a16:colId xmlns:a16="http://schemas.microsoft.com/office/drawing/2014/main" val="20006"/>
                    </a:ext>
                  </a:extLst>
                </a:gridCol>
                <a:gridCol w="1314225">
                  <a:extLst>
                    <a:ext uri="{9D8B030D-6E8A-4147-A177-3AD203B41FA5}">
                      <a16:colId xmlns:a16="http://schemas.microsoft.com/office/drawing/2014/main" val="20007"/>
                    </a:ext>
                  </a:extLst>
                </a:gridCol>
                <a:gridCol w="1314225">
                  <a:extLst>
                    <a:ext uri="{9D8B030D-6E8A-4147-A177-3AD203B41FA5}">
                      <a16:colId xmlns:a16="http://schemas.microsoft.com/office/drawing/2014/main" val="20008"/>
                    </a:ext>
                  </a:extLst>
                </a:gridCol>
              </a:tblGrid>
              <a:tr h="1219575">
                <a:tc>
                  <a:txBody>
                    <a:bodyPr/>
                    <a:lstStyle/>
                    <a:p>
                      <a:pPr marL="0" marR="0" lvl="0" indent="0" algn="l" rtl="0">
                        <a:lnSpc>
                          <a:spcPct val="100000"/>
                        </a:lnSpc>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Sr No.</a:t>
                      </a:r>
                      <a:endParaRPr sz="18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Name of paper</a:t>
                      </a: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Author(s) &amp; Year</a:t>
                      </a:r>
                      <a:endParaRPr sz="18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lt1"/>
                        </a:buClr>
                        <a:buSzPts val="1800"/>
                        <a:buFont typeface="Times New Roman"/>
                        <a:buNone/>
                      </a:pPr>
                      <a:r>
                        <a:rPr lang="en-IN" sz="1800" b="1" u="none" strike="noStrike" cap="none">
                          <a:solidFill>
                            <a:schemeClr val="lt1"/>
                          </a:solidFill>
                          <a:latin typeface="Times New Roman"/>
                          <a:ea typeface="Times New Roman"/>
                          <a:cs typeface="Times New Roman"/>
                          <a:sym typeface="Times New Roman"/>
                        </a:rPr>
                        <a:t>Board</a:t>
                      </a:r>
                      <a:endParaRPr sz="18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lt1"/>
                        </a:buClr>
                        <a:buSzPts val="1800"/>
                        <a:buFont typeface="Times New Roman"/>
                        <a:buNone/>
                      </a:pPr>
                      <a:r>
                        <a:rPr lang="en-IN" sz="1800" b="1" u="none" strike="noStrike" cap="none">
                          <a:solidFill>
                            <a:schemeClr val="lt1"/>
                          </a:solidFill>
                          <a:latin typeface="Times New Roman"/>
                          <a:ea typeface="Times New Roman"/>
                          <a:cs typeface="Times New Roman"/>
                          <a:sym typeface="Times New Roman"/>
                        </a:rPr>
                        <a:t>Libraries</a:t>
                      </a:r>
                      <a:endParaRPr sz="18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lt1"/>
                        </a:buClr>
                        <a:buSzPts val="1800"/>
                        <a:buFont typeface="Times New Roman"/>
                        <a:buNone/>
                      </a:pPr>
                      <a:r>
                        <a:rPr lang="en-IN" sz="1800" b="1" u="none" strike="noStrike" cap="none">
                          <a:solidFill>
                            <a:schemeClr val="lt1"/>
                          </a:solidFill>
                          <a:latin typeface="Times New Roman"/>
                          <a:ea typeface="Times New Roman"/>
                          <a:cs typeface="Times New Roman"/>
                          <a:sym typeface="Times New Roman"/>
                        </a:rPr>
                        <a:t>Hardware</a:t>
                      </a:r>
                      <a:endParaRPr sz="18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lt1"/>
                        </a:buClr>
                        <a:buSzPts val="1800"/>
                        <a:buFont typeface="Times New Roman"/>
                        <a:buNone/>
                      </a:pPr>
                      <a:r>
                        <a:rPr lang="en-IN" sz="1800" b="1" u="none" strike="noStrike" cap="none">
                          <a:solidFill>
                            <a:schemeClr val="lt1"/>
                          </a:solidFill>
                          <a:latin typeface="Times New Roman"/>
                          <a:ea typeface="Times New Roman"/>
                          <a:cs typeface="Times New Roman"/>
                          <a:sym typeface="Times New Roman"/>
                        </a:rPr>
                        <a:t>Software</a:t>
                      </a:r>
                      <a:endParaRPr sz="18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lt1"/>
                        </a:buClr>
                        <a:buSzPts val="1800"/>
                        <a:buFont typeface="Times New Roman"/>
                        <a:buNone/>
                      </a:pPr>
                      <a:r>
                        <a:rPr lang="en-IN" sz="1800" b="1" u="none" strike="noStrike" cap="none">
                          <a:solidFill>
                            <a:schemeClr val="lt1"/>
                          </a:solidFill>
                          <a:latin typeface="Times New Roman"/>
                          <a:ea typeface="Times New Roman"/>
                          <a:cs typeface="Times New Roman"/>
                          <a:sym typeface="Times New Roman"/>
                        </a:rPr>
                        <a:t>Work</a:t>
                      </a:r>
                      <a:endParaRPr sz="18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lt1"/>
                        </a:buClr>
                        <a:buSzPts val="1800"/>
                        <a:buFont typeface="Times New Roman"/>
                        <a:buNone/>
                      </a:pPr>
                      <a:r>
                        <a:rPr lang="en-IN" sz="1800" b="1" u="none" strike="noStrike" cap="none">
                          <a:solidFill>
                            <a:schemeClr val="lt1"/>
                          </a:solidFill>
                          <a:latin typeface="Times New Roman"/>
                          <a:ea typeface="Times New Roman"/>
                          <a:cs typeface="Times New Roman"/>
                          <a:sym typeface="Times New Roman"/>
                        </a:rPr>
                        <a:t>Decision</a:t>
                      </a:r>
                      <a:endParaRPr sz="18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0"/>
                  </a:ext>
                </a:extLst>
              </a:tr>
              <a:tr h="2937550">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6</a:t>
                      </a: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Stable-TTS: Stable Speaker-Adaptive Text-to-Speech Synthesis via Prosody Prompting</a:t>
                      </a:r>
                      <a:endParaRPr sz="1400" u="none" strike="noStrike" cap="none"/>
                    </a:p>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[6]</a:t>
                      </a: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Authors: Wooseok Han, Minki Kang, Changhun Kim, Eunho YangYear: 2025 — ICASSP 2025, IEEE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GPU / Cloud / adaptable to Pi</a:t>
                      </a: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 Diffusion Model, PLM, Prior-preservation Loss, HiFi-GAN</a:t>
                      </a: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Hardware: GPU system</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 PyTorch, Python</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Text → Diffusion-based adaptive TTS</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 Advanced speaker-adaptive system; high-quality voice synthesis.</a:t>
                      </a:r>
                      <a:endParaRPr sz="1800" u="none" strike="noStrike" cap="none">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1"/>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11"/>
          <p:cNvSpPr txBox="1">
            <a:spLocks noGrp="1"/>
          </p:cNvSpPr>
          <p:nvPr>
            <p:ph type="title"/>
          </p:nvPr>
        </p:nvSpPr>
        <p:spPr>
          <a:xfrm>
            <a:off x="0" y="18255"/>
            <a:ext cx="12192000" cy="1325563"/>
          </a:xfrm>
          <a:prstGeom prst="rect">
            <a:avLst/>
          </a:prstGeom>
          <a:solidFill>
            <a:srgbClr val="1F3864"/>
          </a:solidFill>
          <a:ln>
            <a:noFill/>
          </a:ln>
          <a:effectLst>
            <a:outerShdw blurRad="44450" dist="27940" dir="5400000" algn="ctr">
              <a:srgbClr val="000000">
                <a:alpha val="31372"/>
              </a:srgbClr>
            </a:outerShdw>
          </a:effectLst>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Times New Roman"/>
              <a:buNone/>
            </a:pPr>
            <a:r>
              <a:rPr lang="en-IN" sz="4400" b="1">
                <a:solidFill>
                  <a:schemeClr val="lt1"/>
                </a:solidFill>
                <a:latin typeface="Times New Roman"/>
                <a:ea typeface="Times New Roman"/>
                <a:cs typeface="Times New Roman"/>
                <a:sym typeface="Times New Roman"/>
              </a:rPr>
              <a:t>  Literature Survey</a:t>
            </a:r>
            <a:endParaRPr/>
          </a:p>
        </p:txBody>
      </p:sp>
      <p:graphicFrame>
        <p:nvGraphicFramePr>
          <p:cNvPr id="158" name="Google Shape;158;p11"/>
          <p:cNvGraphicFramePr/>
          <p:nvPr/>
        </p:nvGraphicFramePr>
        <p:xfrm>
          <a:off x="211668" y="1617131"/>
          <a:ext cx="11828000" cy="4157125"/>
        </p:xfrm>
        <a:graphic>
          <a:graphicData uri="http://schemas.openxmlformats.org/drawingml/2006/table">
            <a:tbl>
              <a:tblPr firstRow="1" bandRow="1">
                <a:noFill/>
                <a:tableStyleId>{2BE4A156-D856-4294-9C9A-E00CE88E0922}</a:tableStyleId>
              </a:tblPr>
              <a:tblGrid>
                <a:gridCol w="558800">
                  <a:extLst>
                    <a:ext uri="{9D8B030D-6E8A-4147-A177-3AD203B41FA5}">
                      <a16:colId xmlns:a16="http://schemas.microsoft.com/office/drawing/2014/main" val="20000"/>
                    </a:ext>
                  </a:extLst>
                </a:gridCol>
                <a:gridCol w="2069625">
                  <a:extLst>
                    <a:ext uri="{9D8B030D-6E8A-4147-A177-3AD203B41FA5}">
                      <a16:colId xmlns:a16="http://schemas.microsoft.com/office/drawing/2014/main" val="20001"/>
                    </a:ext>
                  </a:extLst>
                </a:gridCol>
                <a:gridCol w="1314225">
                  <a:extLst>
                    <a:ext uri="{9D8B030D-6E8A-4147-A177-3AD203B41FA5}">
                      <a16:colId xmlns:a16="http://schemas.microsoft.com/office/drawing/2014/main" val="20002"/>
                    </a:ext>
                  </a:extLst>
                </a:gridCol>
                <a:gridCol w="1314225">
                  <a:extLst>
                    <a:ext uri="{9D8B030D-6E8A-4147-A177-3AD203B41FA5}">
                      <a16:colId xmlns:a16="http://schemas.microsoft.com/office/drawing/2014/main" val="20003"/>
                    </a:ext>
                  </a:extLst>
                </a:gridCol>
                <a:gridCol w="1314225">
                  <a:extLst>
                    <a:ext uri="{9D8B030D-6E8A-4147-A177-3AD203B41FA5}">
                      <a16:colId xmlns:a16="http://schemas.microsoft.com/office/drawing/2014/main" val="20004"/>
                    </a:ext>
                  </a:extLst>
                </a:gridCol>
                <a:gridCol w="1314225">
                  <a:extLst>
                    <a:ext uri="{9D8B030D-6E8A-4147-A177-3AD203B41FA5}">
                      <a16:colId xmlns:a16="http://schemas.microsoft.com/office/drawing/2014/main" val="20005"/>
                    </a:ext>
                  </a:extLst>
                </a:gridCol>
                <a:gridCol w="1314225">
                  <a:extLst>
                    <a:ext uri="{9D8B030D-6E8A-4147-A177-3AD203B41FA5}">
                      <a16:colId xmlns:a16="http://schemas.microsoft.com/office/drawing/2014/main" val="20006"/>
                    </a:ext>
                  </a:extLst>
                </a:gridCol>
                <a:gridCol w="1314225">
                  <a:extLst>
                    <a:ext uri="{9D8B030D-6E8A-4147-A177-3AD203B41FA5}">
                      <a16:colId xmlns:a16="http://schemas.microsoft.com/office/drawing/2014/main" val="20007"/>
                    </a:ext>
                  </a:extLst>
                </a:gridCol>
                <a:gridCol w="1314225">
                  <a:extLst>
                    <a:ext uri="{9D8B030D-6E8A-4147-A177-3AD203B41FA5}">
                      <a16:colId xmlns:a16="http://schemas.microsoft.com/office/drawing/2014/main" val="20008"/>
                    </a:ext>
                  </a:extLst>
                </a:gridCol>
              </a:tblGrid>
              <a:tr h="1219575">
                <a:tc>
                  <a:txBody>
                    <a:bodyPr/>
                    <a:lstStyle/>
                    <a:p>
                      <a:pPr marL="0" marR="0" lvl="0" indent="0" algn="l" rtl="0">
                        <a:lnSpc>
                          <a:spcPct val="100000"/>
                        </a:lnSpc>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Sr No.</a:t>
                      </a:r>
                      <a:endParaRPr sz="18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Name of paper</a:t>
                      </a: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Author(s) &amp; Year</a:t>
                      </a:r>
                      <a:endParaRPr sz="18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lt1"/>
                        </a:buClr>
                        <a:buSzPts val="1800"/>
                        <a:buFont typeface="Times New Roman"/>
                        <a:buNone/>
                      </a:pPr>
                      <a:r>
                        <a:rPr lang="en-IN" sz="1800" b="1" u="none" strike="noStrike" cap="none">
                          <a:solidFill>
                            <a:schemeClr val="lt1"/>
                          </a:solidFill>
                          <a:latin typeface="Times New Roman"/>
                          <a:ea typeface="Times New Roman"/>
                          <a:cs typeface="Times New Roman"/>
                          <a:sym typeface="Times New Roman"/>
                        </a:rPr>
                        <a:t>Board</a:t>
                      </a:r>
                      <a:endParaRPr sz="18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lt1"/>
                        </a:buClr>
                        <a:buSzPts val="1800"/>
                        <a:buFont typeface="Times New Roman"/>
                        <a:buNone/>
                      </a:pPr>
                      <a:r>
                        <a:rPr lang="en-IN" sz="1800" b="1" u="none" strike="noStrike" cap="none">
                          <a:solidFill>
                            <a:schemeClr val="lt1"/>
                          </a:solidFill>
                          <a:latin typeface="Times New Roman"/>
                          <a:ea typeface="Times New Roman"/>
                          <a:cs typeface="Times New Roman"/>
                          <a:sym typeface="Times New Roman"/>
                        </a:rPr>
                        <a:t>Libraries</a:t>
                      </a:r>
                      <a:endParaRPr sz="18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lt1"/>
                        </a:buClr>
                        <a:buSzPts val="1800"/>
                        <a:buFont typeface="Times New Roman"/>
                        <a:buNone/>
                      </a:pPr>
                      <a:r>
                        <a:rPr lang="en-IN" sz="1800" b="1" u="none" strike="noStrike" cap="none">
                          <a:solidFill>
                            <a:schemeClr val="lt1"/>
                          </a:solidFill>
                          <a:latin typeface="Times New Roman"/>
                          <a:ea typeface="Times New Roman"/>
                          <a:cs typeface="Times New Roman"/>
                          <a:sym typeface="Times New Roman"/>
                        </a:rPr>
                        <a:t>Hardware</a:t>
                      </a:r>
                      <a:endParaRPr sz="18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lt1"/>
                        </a:buClr>
                        <a:buSzPts val="1800"/>
                        <a:buFont typeface="Times New Roman"/>
                        <a:buNone/>
                      </a:pPr>
                      <a:r>
                        <a:rPr lang="en-IN" sz="1800" b="1" u="none" strike="noStrike" cap="none">
                          <a:solidFill>
                            <a:schemeClr val="lt1"/>
                          </a:solidFill>
                          <a:latin typeface="Times New Roman"/>
                          <a:ea typeface="Times New Roman"/>
                          <a:cs typeface="Times New Roman"/>
                          <a:sym typeface="Times New Roman"/>
                        </a:rPr>
                        <a:t>Software</a:t>
                      </a:r>
                      <a:endParaRPr sz="18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lt1"/>
                        </a:buClr>
                        <a:buSzPts val="1800"/>
                        <a:buFont typeface="Times New Roman"/>
                        <a:buNone/>
                      </a:pPr>
                      <a:r>
                        <a:rPr lang="en-IN" sz="1800" b="1" u="none" strike="noStrike" cap="none">
                          <a:solidFill>
                            <a:schemeClr val="lt1"/>
                          </a:solidFill>
                          <a:latin typeface="Times New Roman"/>
                          <a:ea typeface="Times New Roman"/>
                          <a:cs typeface="Times New Roman"/>
                          <a:sym typeface="Times New Roman"/>
                        </a:rPr>
                        <a:t>Work</a:t>
                      </a:r>
                      <a:endParaRPr sz="18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lt1"/>
                        </a:buClr>
                        <a:buSzPts val="1800"/>
                        <a:buFont typeface="Times New Roman"/>
                        <a:buNone/>
                      </a:pPr>
                      <a:r>
                        <a:rPr lang="en-IN" sz="1800" b="1" u="none" strike="noStrike" cap="none">
                          <a:solidFill>
                            <a:schemeClr val="lt1"/>
                          </a:solidFill>
                          <a:latin typeface="Times New Roman"/>
                          <a:ea typeface="Times New Roman"/>
                          <a:cs typeface="Times New Roman"/>
                          <a:sym typeface="Times New Roman"/>
                        </a:rPr>
                        <a:t>Decision</a:t>
                      </a:r>
                      <a:endParaRPr sz="18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0"/>
                  </a:ext>
                </a:extLst>
              </a:tr>
              <a:tr h="2937550">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7</a:t>
                      </a: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Web Accessibility Framework for the Arab Disabled (Extended)</a:t>
                      </a:r>
                      <a:endParaRPr sz="1400" u="none" strike="noStrike" cap="none"/>
                    </a:p>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[7]</a:t>
                      </a: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Authors: —Year: 2012</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Web server</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 ArSL, Arabic Moon, Braille converters</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 PC / Mobile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 Web modules</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 Scan → Convert → ArSL/Braille/Speech</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Accessible communication system for Arabic blind users.</a:t>
                      </a:r>
                      <a:endParaRPr sz="1400" u="none" strike="noStrike" cap="none"/>
                    </a:p>
                  </a:txBody>
                  <a:tcPr marL="91450" marR="91450" marT="45725" marB="45725"/>
                </a:tc>
                <a:extLst>
                  <a:ext uri="{0D108BD9-81ED-4DB2-BD59-A6C34878D82A}">
                    <a16:rowId xmlns:a16="http://schemas.microsoft.com/office/drawing/2014/main" val="10001"/>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12"/>
          <p:cNvSpPr txBox="1">
            <a:spLocks noGrp="1"/>
          </p:cNvSpPr>
          <p:nvPr>
            <p:ph type="title"/>
          </p:nvPr>
        </p:nvSpPr>
        <p:spPr>
          <a:xfrm>
            <a:off x="0" y="18255"/>
            <a:ext cx="12192000" cy="1325563"/>
          </a:xfrm>
          <a:prstGeom prst="rect">
            <a:avLst/>
          </a:prstGeom>
          <a:solidFill>
            <a:srgbClr val="1F3864"/>
          </a:solidFill>
          <a:ln>
            <a:noFill/>
          </a:ln>
          <a:effectLst>
            <a:outerShdw blurRad="44450" dist="27940" dir="5400000" algn="ctr">
              <a:srgbClr val="000000">
                <a:alpha val="31372"/>
              </a:srgbClr>
            </a:outerShdw>
          </a:effectLst>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Times New Roman"/>
              <a:buNone/>
            </a:pPr>
            <a:r>
              <a:rPr lang="en-IN" sz="4400" b="1">
                <a:solidFill>
                  <a:schemeClr val="lt1"/>
                </a:solidFill>
                <a:latin typeface="Times New Roman"/>
                <a:ea typeface="Times New Roman"/>
                <a:cs typeface="Times New Roman"/>
                <a:sym typeface="Times New Roman"/>
              </a:rPr>
              <a:t>  Literature Survey</a:t>
            </a:r>
            <a:endParaRPr/>
          </a:p>
        </p:txBody>
      </p:sp>
      <p:graphicFrame>
        <p:nvGraphicFramePr>
          <p:cNvPr id="164" name="Google Shape;164;p12"/>
          <p:cNvGraphicFramePr/>
          <p:nvPr/>
        </p:nvGraphicFramePr>
        <p:xfrm>
          <a:off x="211668" y="1617131"/>
          <a:ext cx="11828000" cy="4157125"/>
        </p:xfrm>
        <a:graphic>
          <a:graphicData uri="http://schemas.openxmlformats.org/drawingml/2006/table">
            <a:tbl>
              <a:tblPr firstRow="1" bandRow="1">
                <a:noFill/>
                <a:tableStyleId>{2BE4A156-D856-4294-9C9A-E00CE88E0922}</a:tableStyleId>
              </a:tblPr>
              <a:tblGrid>
                <a:gridCol w="558800">
                  <a:extLst>
                    <a:ext uri="{9D8B030D-6E8A-4147-A177-3AD203B41FA5}">
                      <a16:colId xmlns:a16="http://schemas.microsoft.com/office/drawing/2014/main" val="20000"/>
                    </a:ext>
                  </a:extLst>
                </a:gridCol>
                <a:gridCol w="2069625">
                  <a:extLst>
                    <a:ext uri="{9D8B030D-6E8A-4147-A177-3AD203B41FA5}">
                      <a16:colId xmlns:a16="http://schemas.microsoft.com/office/drawing/2014/main" val="20001"/>
                    </a:ext>
                  </a:extLst>
                </a:gridCol>
                <a:gridCol w="1314225">
                  <a:extLst>
                    <a:ext uri="{9D8B030D-6E8A-4147-A177-3AD203B41FA5}">
                      <a16:colId xmlns:a16="http://schemas.microsoft.com/office/drawing/2014/main" val="20002"/>
                    </a:ext>
                  </a:extLst>
                </a:gridCol>
                <a:gridCol w="1314225">
                  <a:extLst>
                    <a:ext uri="{9D8B030D-6E8A-4147-A177-3AD203B41FA5}">
                      <a16:colId xmlns:a16="http://schemas.microsoft.com/office/drawing/2014/main" val="20003"/>
                    </a:ext>
                  </a:extLst>
                </a:gridCol>
                <a:gridCol w="1314225">
                  <a:extLst>
                    <a:ext uri="{9D8B030D-6E8A-4147-A177-3AD203B41FA5}">
                      <a16:colId xmlns:a16="http://schemas.microsoft.com/office/drawing/2014/main" val="20004"/>
                    </a:ext>
                  </a:extLst>
                </a:gridCol>
                <a:gridCol w="1314225">
                  <a:extLst>
                    <a:ext uri="{9D8B030D-6E8A-4147-A177-3AD203B41FA5}">
                      <a16:colId xmlns:a16="http://schemas.microsoft.com/office/drawing/2014/main" val="20005"/>
                    </a:ext>
                  </a:extLst>
                </a:gridCol>
                <a:gridCol w="1314225">
                  <a:extLst>
                    <a:ext uri="{9D8B030D-6E8A-4147-A177-3AD203B41FA5}">
                      <a16:colId xmlns:a16="http://schemas.microsoft.com/office/drawing/2014/main" val="20006"/>
                    </a:ext>
                  </a:extLst>
                </a:gridCol>
                <a:gridCol w="1314225">
                  <a:extLst>
                    <a:ext uri="{9D8B030D-6E8A-4147-A177-3AD203B41FA5}">
                      <a16:colId xmlns:a16="http://schemas.microsoft.com/office/drawing/2014/main" val="20007"/>
                    </a:ext>
                  </a:extLst>
                </a:gridCol>
                <a:gridCol w="1314225">
                  <a:extLst>
                    <a:ext uri="{9D8B030D-6E8A-4147-A177-3AD203B41FA5}">
                      <a16:colId xmlns:a16="http://schemas.microsoft.com/office/drawing/2014/main" val="20008"/>
                    </a:ext>
                  </a:extLst>
                </a:gridCol>
              </a:tblGrid>
              <a:tr h="1219575">
                <a:tc>
                  <a:txBody>
                    <a:bodyPr/>
                    <a:lstStyle/>
                    <a:p>
                      <a:pPr marL="0" marR="0" lvl="0" indent="0" algn="l" rtl="0">
                        <a:lnSpc>
                          <a:spcPct val="100000"/>
                        </a:lnSpc>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Sr No.</a:t>
                      </a:r>
                      <a:endParaRPr sz="18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Name of paper</a:t>
                      </a: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Author(s) &amp; Year</a:t>
                      </a:r>
                      <a:endParaRPr sz="18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lt1"/>
                        </a:buClr>
                        <a:buSzPts val="1800"/>
                        <a:buFont typeface="Times New Roman"/>
                        <a:buNone/>
                      </a:pPr>
                      <a:r>
                        <a:rPr lang="en-IN" sz="1800" b="1" u="none" strike="noStrike" cap="none">
                          <a:solidFill>
                            <a:schemeClr val="lt1"/>
                          </a:solidFill>
                          <a:latin typeface="Times New Roman"/>
                          <a:ea typeface="Times New Roman"/>
                          <a:cs typeface="Times New Roman"/>
                          <a:sym typeface="Times New Roman"/>
                        </a:rPr>
                        <a:t>Board</a:t>
                      </a:r>
                      <a:endParaRPr sz="18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lt1"/>
                        </a:buClr>
                        <a:buSzPts val="1800"/>
                        <a:buFont typeface="Times New Roman"/>
                        <a:buNone/>
                      </a:pPr>
                      <a:r>
                        <a:rPr lang="en-IN" sz="1800" b="1" u="none" strike="noStrike" cap="none">
                          <a:solidFill>
                            <a:schemeClr val="lt1"/>
                          </a:solidFill>
                          <a:latin typeface="Times New Roman"/>
                          <a:ea typeface="Times New Roman"/>
                          <a:cs typeface="Times New Roman"/>
                          <a:sym typeface="Times New Roman"/>
                        </a:rPr>
                        <a:t>Libraries</a:t>
                      </a:r>
                      <a:endParaRPr sz="18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lt1"/>
                        </a:buClr>
                        <a:buSzPts val="1800"/>
                        <a:buFont typeface="Times New Roman"/>
                        <a:buNone/>
                      </a:pPr>
                      <a:r>
                        <a:rPr lang="en-IN" sz="1800" b="1" u="none" strike="noStrike" cap="none">
                          <a:solidFill>
                            <a:schemeClr val="lt1"/>
                          </a:solidFill>
                          <a:latin typeface="Times New Roman"/>
                          <a:ea typeface="Times New Roman"/>
                          <a:cs typeface="Times New Roman"/>
                          <a:sym typeface="Times New Roman"/>
                        </a:rPr>
                        <a:t>Hardware</a:t>
                      </a:r>
                      <a:endParaRPr sz="18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lt1"/>
                        </a:buClr>
                        <a:buSzPts val="1800"/>
                        <a:buFont typeface="Times New Roman"/>
                        <a:buNone/>
                      </a:pPr>
                      <a:r>
                        <a:rPr lang="en-IN" sz="1800" b="1" u="none" strike="noStrike" cap="none">
                          <a:solidFill>
                            <a:schemeClr val="lt1"/>
                          </a:solidFill>
                          <a:latin typeface="Times New Roman"/>
                          <a:ea typeface="Times New Roman"/>
                          <a:cs typeface="Times New Roman"/>
                          <a:sym typeface="Times New Roman"/>
                        </a:rPr>
                        <a:t>Software</a:t>
                      </a:r>
                      <a:endParaRPr sz="18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lt1"/>
                        </a:buClr>
                        <a:buSzPts val="1800"/>
                        <a:buFont typeface="Times New Roman"/>
                        <a:buNone/>
                      </a:pPr>
                      <a:r>
                        <a:rPr lang="en-IN" sz="1800" b="1" u="none" strike="noStrike" cap="none">
                          <a:solidFill>
                            <a:schemeClr val="lt1"/>
                          </a:solidFill>
                          <a:latin typeface="Times New Roman"/>
                          <a:ea typeface="Times New Roman"/>
                          <a:cs typeface="Times New Roman"/>
                          <a:sym typeface="Times New Roman"/>
                        </a:rPr>
                        <a:t>Work</a:t>
                      </a:r>
                      <a:endParaRPr sz="18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lt1"/>
                        </a:buClr>
                        <a:buSzPts val="1800"/>
                        <a:buFont typeface="Times New Roman"/>
                        <a:buNone/>
                      </a:pPr>
                      <a:r>
                        <a:rPr lang="en-IN" sz="1800" b="1" u="none" strike="noStrike" cap="none">
                          <a:solidFill>
                            <a:schemeClr val="lt1"/>
                          </a:solidFill>
                          <a:latin typeface="Times New Roman"/>
                          <a:ea typeface="Times New Roman"/>
                          <a:cs typeface="Times New Roman"/>
                          <a:sym typeface="Times New Roman"/>
                        </a:rPr>
                        <a:t>Decision</a:t>
                      </a:r>
                      <a:endParaRPr sz="18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0"/>
                  </a:ext>
                </a:extLst>
              </a:tr>
              <a:tr h="2937550">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8</a:t>
                      </a: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An Interactive Intelligent Web-based Text-to-Speech System</a:t>
                      </a:r>
                      <a:endParaRPr sz="1400" u="none" strike="noStrike" cap="none"/>
                    </a:p>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[8]</a:t>
                      </a: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Authors: — (AAJRSR Journal)Year: 2021 — Asia-Africa Journal of Recent </a:t>
                      </a: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Web-based</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NLP + DSP models, JS speech synthesis</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 Any computer/mobile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Web (HTML/JS/CSS)</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Text input → NLP → TTS → Audio</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Web TTS solution; suitable for e-learning, online reading.</a:t>
                      </a:r>
                      <a:endParaRPr sz="1800" u="none" strike="noStrike" cap="none">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1"/>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13"/>
          <p:cNvSpPr txBox="1">
            <a:spLocks noGrp="1"/>
          </p:cNvSpPr>
          <p:nvPr>
            <p:ph type="title"/>
          </p:nvPr>
        </p:nvSpPr>
        <p:spPr>
          <a:xfrm>
            <a:off x="0" y="18255"/>
            <a:ext cx="12192000" cy="1325563"/>
          </a:xfrm>
          <a:prstGeom prst="rect">
            <a:avLst/>
          </a:prstGeom>
          <a:solidFill>
            <a:srgbClr val="1F3864"/>
          </a:solidFill>
          <a:ln>
            <a:noFill/>
          </a:ln>
          <a:effectLst>
            <a:outerShdw blurRad="44450" dist="27940" dir="5400000" algn="ctr">
              <a:srgbClr val="000000">
                <a:alpha val="31372"/>
              </a:srgbClr>
            </a:outerShdw>
          </a:effectLst>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Times New Roman"/>
              <a:buNone/>
            </a:pPr>
            <a:r>
              <a:rPr lang="en-IN" sz="4400" b="1">
                <a:solidFill>
                  <a:schemeClr val="lt1"/>
                </a:solidFill>
                <a:latin typeface="Times New Roman"/>
                <a:ea typeface="Times New Roman"/>
                <a:cs typeface="Times New Roman"/>
                <a:sym typeface="Times New Roman"/>
              </a:rPr>
              <a:t>  Literature Survey</a:t>
            </a:r>
            <a:endParaRPr/>
          </a:p>
        </p:txBody>
      </p:sp>
      <p:graphicFrame>
        <p:nvGraphicFramePr>
          <p:cNvPr id="170" name="Google Shape;170;p13"/>
          <p:cNvGraphicFramePr/>
          <p:nvPr/>
        </p:nvGraphicFramePr>
        <p:xfrm>
          <a:off x="211668" y="1617131"/>
          <a:ext cx="11828000" cy="4157125"/>
        </p:xfrm>
        <a:graphic>
          <a:graphicData uri="http://schemas.openxmlformats.org/drawingml/2006/table">
            <a:tbl>
              <a:tblPr firstRow="1" bandRow="1">
                <a:noFill/>
                <a:tableStyleId>{2BE4A156-D856-4294-9C9A-E00CE88E0922}</a:tableStyleId>
              </a:tblPr>
              <a:tblGrid>
                <a:gridCol w="558800">
                  <a:extLst>
                    <a:ext uri="{9D8B030D-6E8A-4147-A177-3AD203B41FA5}">
                      <a16:colId xmlns:a16="http://schemas.microsoft.com/office/drawing/2014/main" val="20000"/>
                    </a:ext>
                  </a:extLst>
                </a:gridCol>
                <a:gridCol w="2069625">
                  <a:extLst>
                    <a:ext uri="{9D8B030D-6E8A-4147-A177-3AD203B41FA5}">
                      <a16:colId xmlns:a16="http://schemas.microsoft.com/office/drawing/2014/main" val="20001"/>
                    </a:ext>
                  </a:extLst>
                </a:gridCol>
                <a:gridCol w="1314225">
                  <a:extLst>
                    <a:ext uri="{9D8B030D-6E8A-4147-A177-3AD203B41FA5}">
                      <a16:colId xmlns:a16="http://schemas.microsoft.com/office/drawing/2014/main" val="20002"/>
                    </a:ext>
                  </a:extLst>
                </a:gridCol>
                <a:gridCol w="1314225">
                  <a:extLst>
                    <a:ext uri="{9D8B030D-6E8A-4147-A177-3AD203B41FA5}">
                      <a16:colId xmlns:a16="http://schemas.microsoft.com/office/drawing/2014/main" val="20003"/>
                    </a:ext>
                  </a:extLst>
                </a:gridCol>
                <a:gridCol w="1314225">
                  <a:extLst>
                    <a:ext uri="{9D8B030D-6E8A-4147-A177-3AD203B41FA5}">
                      <a16:colId xmlns:a16="http://schemas.microsoft.com/office/drawing/2014/main" val="20004"/>
                    </a:ext>
                  </a:extLst>
                </a:gridCol>
                <a:gridCol w="1314225">
                  <a:extLst>
                    <a:ext uri="{9D8B030D-6E8A-4147-A177-3AD203B41FA5}">
                      <a16:colId xmlns:a16="http://schemas.microsoft.com/office/drawing/2014/main" val="20005"/>
                    </a:ext>
                  </a:extLst>
                </a:gridCol>
                <a:gridCol w="1314225">
                  <a:extLst>
                    <a:ext uri="{9D8B030D-6E8A-4147-A177-3AD203B41FA5}">
                      <a16:colId xmlns:a16="http://schemas.microsoft.com/office/drawing/2014/main" val="20006"/>
                    </a:ext>
                  </a:extLst>
                </a:gridCol>
                <a:gridCol w="1314225">
                  <a:extLst>
                    <a:ext uri="{9D8B030D-6E8A-4147-A177-3AD203B41FA5}">
                      <a16:colId xmlns:a16="http://schemas.microsoft.com/office/drawing/2014/main" val="20007"/>
                    </a:ext>
                  </a:extLst>
                </a:gridCol>
                <a:gridCol w="1314225">
                  <a:extLst>
                    <a:ext uri="{9D8B030D-6E8A-4147-A177-3AD203B41FA5}">
                      <a16:colId xmlns:a16="http://schemas.microsoft.com/office/drawing/2014/main" val="20008"/>
                    </a:ext>
                  </a:extLst>
                </a:gridCol>
              </a:tblGrid>
              <a:tr h="1219575">
                <a:tc>
                  <a:txBody>
                    <a:bodyPr/>
                    <a:lstStyle/>
                    <a:p>
                      <a:pPr marL="0" marR="0" lvl="0" indent="0" algn="l" rtl="0">
                        <a:lnSpc>
                          <a:spcPct val="100000"/>
                        </a:lnSpc>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Sr No.</a:t>
                      </a:r>
                      <a:endParaRPr sz="18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Name of paper</a:t>
                      </a: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Author(s) &amp; Year</a:t>
                      </a:r>
                      <a:endParaRPr sz="18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lt1"/>
                        </a:buClr>
                        <a:buSzPts val="1800"/>
                        <a:buFont typeface="Times New Roman"/>
                        <a:buNone/>
                      </a:pPr>
                      <a:r>
                        <a:rPr lang="en-IN" sz="1800" b="1" u="none" strike="noStrike" cap="none">
                          <a:solidFill>
                            <a:schemeClr val="lt1"/>
                          </a:solidFill>
                          <a:latin typeface="Times New Roman"/>
                          <a:ea typeface="Times New Roman"/>
                          <a:cs typeface="Times New Roman"/>
                          <a:sym typeface="Times New Roman"/>
                        </a:rPr>
                        <a:t>Board</a:t>
                      </a:r>
                      <a:endParaRPr sz="18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lt1"/>
                        </a:buClr>
                        <a:buSzPts val="1800"/>
                        <a:buFont typeface="Times New Roman"/>
                        <a:buNone/>
                      </a:pPr>
                      <a:r>
                        <a:rPr lang="en-IN" sz="1800" b="1" u="none" strike="noStrike" cap="none">
                          <a:solidFill>
                            <a:schemeClr val="lt1"/>
                          </a:solidFill>
                          <a:latin typeface="Times New Roman"/>
                          <a:ea typeface="Times New Roman"/>
                          <a:cs typeface="Times New Roman"/>
                          <a:sym typeface="Times New Roman"/>
                        </a:rPr>
                        <a:t>Libraries</a:t>
                      </a:r>
                      <a:endParaRPr sz="18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lt1"/>
                        </a:buClr>
                        <a:buSzPts val="1800"/>
                        <a:buFont typeface="Times New Roman"/>
                        <a:buNone/>
                      </a:pPr>
                      <a:r>
                        <a:rPr lang="en-IN" sz="1800" b="1" u="none" strike="noStrike" cap="none">
                          <a:solidFill>
                            <a:schemeClr val="lt1"/>
                          </a:solidFill>
                          <a:latin typeface="Times New Roman"/>
                          <a:ea typeface="Times New Roman"/>
                          <a:cs typeface="Times New Roman"/>
                          <a:sym typeface="Times New Roman"/>
                        </a:rPr>
                        <a:t>Hardware</a:t>
                      </a:r>
                      <a:endParaRPr sz="18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lt1"/>
                        </a:buClr>
                        <a:buSzPts val="1800"/>
                        <a:buFont typeface="Times New Roman"/>
                        <a:buNone/>
                      </a:pPr>
                      <a:r>
                        <a:rPr lang="en-IN" sz="1800" b="1" u="none" strike="noStrike" cap="none">
                          <a:solidFill>
                            <a:schemeClr val="lt1"/>
                          </a:solidFill>
                          <a:latin typeface="Times New Roman"/>
                          <a:ea typeface="Times New Roman"/>
                          <a:cs typeface="Times New Roman"/>
                          <a:sym typeface="Times New Roman"/>
                        </a:rPr>
                        <a:t>Software</a:t>
                      </a:r>
                      <a:endParaRPr sz="18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lt1"/>
                        </a:buClr>
                        <a:buSzPts val="1800"/>
                        <a:buFont typeface="Times New Roman"/>
                        <a:buNone/>
                      </a:pPr>
                      <a:r>
                        <a:rPr lang="en-IN" sz="1800" b="1" u="none" strike="noStrike" cap="none">
                          <a:solidFill>
                            <a:schemeClr val="lt1"/>
                          </a:solidFill>
                          <a:latin typeface="Times New Roman"/>
                          <a:ea typeface="Times New Roman"/>
                          <a:cs typeface="Times New Roman"/>
                          <a:sym typeface="Times New Roman"/>
                        </a:rPr>
                        <a:t>Work</a:t>
                      </a:r>
                      <a:endParaRPr sz="18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lt1"/>
                        </a:buClr>
                        <a:buSzPts val="1800"/>
                        <a:buFont typeface="Times New Roman"/>
                        <a:buNone/>
                      </a:pPr>
                      <a:r>
                        <a:rPr lang="en-IN" sz="1800" b="1" u="none" strike="noStrike" cap="none">
                          <a:solidFill>
                            <a:schemeClr val="lt1"/>
                          </a:solidFill>
                          <a:latin typeface="Times New Roman"/>
                          <a:ea typeface="Times New Roman"/>
                          <a:cs typeface="Times New Roman"/>
                          <a:sym typeface="Times New Roman"/>
                        </a:rPr>
                        <a:t>Decision</a:t>
                      </a:r>
                      <a:endParaRPr sz="18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0"/>
                  </a:ext>
                </a:extLst>
              </a:tr>
              <a:tr h="2937550">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9</a:t>
                      </a: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Web Accessibility Framework for Tamil Deaf-Blind [9]</a:t>
                      </a: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Authors: —Year: 2012 — IJCA Proceedings, EGov’12</a:t>
                      </a: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Web server (3-tier architecture)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Tamil Sign Language (TSL), Moon/Braille support</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Computer with internet access</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Web application</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Page scan → Convert → Output as TSL/Moon/Braille/Speech</a:t>
                      </a: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Early accessible web design for Tamil disabled users.</a:t>
                      </a:r>
                      <a:endParaRPr sz="1800" u="none" strike="noStrike" cap="none">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1"/>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14"/>
          <p:cNvSpPr txBox="1">
            <a:spLocks noGrp="1"/>
          </p:cNvSpPr>
          <p:nvPr>
            <p:ph type="title"/>
          </p:nvPr>
        </p:nvSpPr>
        <p:spPr>
          <a:xfrm>
            <a:off x="0" y="18255"/>
            <a:ext cx="12192000" cy="1325563"/>
          </a:xfrm>
          <a:prstGeom prst="rect">
            <a:avLst/>
          </a:prstGeom>
          <a:solidFill>
            <a:srgbClr val="1F3864"/>
          </a:solidFill>
          <a:ln>
            <a:noFill/>
          </a:ln>
          <a:effectLst>
            <a:outerShdw blurRad="44450" dist="27940" dir="5400000" algn="ctr">
              <a:srgbClr val="000000">
                <a:alpha val="31372"/>
              </a:srgbClr>
            </a:outerShdw>
          </a:effectLst>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Times New Roman"/>
              <a:buNone/>
            </a:pPr>
            <a:r>
              <a:rPr lang="en-IN" sz="4400" b="1">
                <a:solidFill>
                  <a:schemeClr val="lt1"/>
                </a:solidFill>
                <a:latin typeface="Times New Roman"/>
                <a:ea typeface="Times New Roman"/>
                <a:cs typeface="Times New Roman"/>
                <a:sym typeface="Times New Roman"/>
              </a:rPr>
              <a:t>  Literature Survey</a:t>
            </a:r>
            <a:endParaRPr/>
          </a:p>
        </p:txBody>
      </p:sp>
      <p:graphicFrame>
        <p:nvGraphicFramePr>
          <p:cNvPr id="176" name="Google Shape;176;p14"/>
          <p:cNvGraphicFramePr/>
          <p:nvPr/>
        </p:nvGraphicFramePr>
        <p:xfrm>
          <a:off x="211668" y="1617131"/>
          <a:ext cx="11828000" cy="4157125"/>
        </p:xfrm>
        <a:graphic>
          <a:graphicData uri="http://schemas.openxmlformats.org/drawingml/2006/table">
            <a:tbl>
              <a:tblPr firstRow="1" bandRow="1">
                <a:noFill/>
                <a:tableStyleId>{2BE4A156-D856-4294-9C9A-E00CE88E0922}</a:tableStyleId>
              </a:tblPr>
              <a:tblGrid>
                <a:gridCol w="558800">
                  <a:extLst>
                    <a:ext uri="{9D8B030D-6E8A-4147-A177-3AD203B41FA5}">
                      <a16:colId xmlns:a16="http://schemas.microsoft.com/office/drawing/2014/main" val="20000"/>
                    </a:ext>
                  </a:extLst>
                </a:gridCol>
                <a:gridCol w="1794925">
                  <a:extLst>
                    <a:ext uri="{9D8B030D-6E8A-4147-A177-3AD203B41FA5}">
                      <a16:colId xmlns:a16="http://schemas.microsoft.com/office/drawing/2014/main" val="20001"/>
                    </a:ext>
                  </a:extLst>
                </a:gridCol>
                <a:gridCol w="1588925">
                  <a:extLst>
                    <a:ext uri="{9D8B030D-6E8A-4147-A177-3AD203B41FA5}">
                      <a16:colId xmlns:a16="http://schemas.microsoft.com/office/drawing/2014/main" val="20002"/>
                    </a:ext>
                  </a:extLst>
                </a:gridCol>
                <a:gridCol w="1314225">
                  <a:extLst>
                    <a:ext uri="{9D8B030D-6E8A-4147-A177-3AD203B41FA5}">
                      <a16:colId xmlns:a16="http://schemas.microsoft.com/office/drawing/2014/main" val="20003"/>
                    </a:ext>
                  </a:extLst>
                </a:gridCol>
                <a:gridCol w="1314225">
                  <a:extLst>
                    <a:ext uri="{9D8B030D-6E8A-4147-A177-3AD203B41FA5}">
                      <a16:colId xmlns:a16="http://schemas.microsoft.com/office/drawing/2014/main" val="20004"/>
                    </a:ext>
                  </a:extLst>
                </a:gridCol>
                <a:gridCol w="1314225">
                  <a:extLst>
                    <a:ext uri="{9D8B030D-6E8A-4147-A177-3AD203B41FA5}">
                      <a16:colId xmlns:a16="http://schemas.microsoft.com/office/drawing/2014/main" val="20005"/>
                    </a:ext>
                  </a:extLst>
                </a:gridCol>
                <a:gridCol w="1314225">
                  <a:extLst>
                    <a:ext uri="{9D8B030D-6E8A-4147-A177-3AD203B41FA5}">
                      <a16:colId xmlns:a16="http://schemas.microsoft.com/office/drawing/2014/main" val="20006"/>
                    </a:ext>
                  </a:extLst>
                </a:gridCol>
                <a:gridCol w="1314225">
                  <a:extLst>
                    <a:ext uri="{9D8B030D-6E8A-4147-A177-3AD203B41FA5}">
                      <a16:colId xmlns:a16="http://schemas.microsoft.com/office/drawing/2014/main" val="20007"/>
                    </a:ext>
                  </a:extLst>
                </a:gridCol>
                <a:gridCol w="1314225">
                  <a:extLst>
                    <a:ext uri="{9D8B030D-6E8A-4147-A177-3AD203B41FA5}">
                      <a16:colId xmlns:a16="http://schemas.microsoft.com/office/drawing/2014/main" val="20008"/>
                    </a:ext>
                  </a:extLst>
                </a:gridCol>
              </a:tblGrid>
              <a:tr h="1219575">
                <a:tc>
                  <a:txBody>
                    <a:bodyPr/>
                    <a:lstStyle/>
                    <a:p>
                      <a:pPr marL="0" marR="0" lvl="0" indent="0" algn="l" rtl="0">
                        <a:lnSpc>
                          <a:spcPct val="100000"/>
                        </a:lnSpc>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Sr No.</a:t>
                      </a:r>
                      <a:endParaRPr sz="18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Name of paper</a:t>
                      </a: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Author(s) &amp; Year</a:t>
                      </a:r>
                      <a:endParaRPr sz="18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lt1"/>
                        </a:buClr>
                        <a:buSzPts val="1800"/>
                        <a:buFont typeface="Times New Roman"/>
                        <a:buNone/>
                      </a:pPr>
                      <a:r>
                        <a:rPr lang="en-IN" sz="1800" b="1" u="none" strike="noStrike" cap="none">
                          <a:solidFill>
                            <a:schemeClr val="lt1"/>
                          </a:solidFill>
                          <a:latin typeface="Times New Roman"/>
                          <a:ea typeface="Times New Roman"/>
                          <a:cs typeface="Times New Roman"/>
                          <a:sym typeface="Times New Roman"/>
                        </a:rPr>
                        <a:t>Board</a:t>
                      </a:r>
                      <a:endParaRPr sz="18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lt1"/>
                        </a:buClr>
                        <a:buSzPts val="1800"/>
                        <a:buFont typeface="Times New Roman"/>
                        <a:buNone/>
                      </a:pPr>
                      <a:r>
                        <a:rPr lang="en-IN" sz="1800" b="1" u="none" strike="noStrike" cap="none">
                          <a:solidFill>
                            <a:schemeClr val="lt1"/>
                          </a:solidFill>
                          <a:latin typeface="Times New Roman"/>
                          <a:ea typeface="Times New Roman"/>
                          <a:cs typeface="Times New Roman"/>
                          <a:sym typeface="Times New Roman"/>
                        </a:rPr>
                        <a:t>Libraries</a:t>
                      </a:r>
                      <a:endParaRPr sz="18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lt1"/>
                        </a:buClr>
                        <a:buSzPts val="1800"/>
                        <a:buFont typeface="Times New Roman"/>
                        <a:buNone/>
                      </a:pPr>
                      <a:r>
                        <a:rPr lang="en-IN" sz="1800" b="1" u="none" strike="noStrike" cap="none">
                          <a:solidFill>
                            <a:schemeClr val="lt1"/>
                          </a:solidFill>
                          <a:latin typeface="Times New Roman"/>
                          <a:ea typeface="Times New Roman"/>
                          <a:cs typeface="Times New Roman"/>
                          <a:sym typeface="Times New Roman"/>
                        </a:rPr>
                        <a:t>Hardware</a:t>
                      </a:r>
                      <a:endParaRPr sz="18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lt1"/>
                        </a:buClr>
                        <a:buSzPts val="1800"/>
                        <a:buFont typeface="Times New Roman"/>
                        <a:buNone/>
                      </a:pPr>
                      <a:r>
                        <a:rPr lang="en-IN" sz="1800" b="1" u="none" strike="noStrike" cap="none">
                          <a:solidFill>
                            <a:schemeClr val="lt1"/>
                          </a:solidFill>
                          <a:latin typeface="Times New Roman"/>
                          <a:ea typeface="Times New Roman"/>
                          <a:cs typeface="Times New Roman"/>
                          <a:sym typeface="Times New Roman"/>
                        </a:rPr>
                        <a:t>Software</a:t>
                      </a:r>
                      <a:endParaRPr sz="18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lt1"/>
                        </a:buClr>
                        <a:buSzPts val="1800"/>
                        <a:buFont typeface="Times New Roman"/>
                        <a:buNone/>
                      </a:pPr>
                      <a:r>
                        <a:rPr lang="en-IN" sz="1800" b="1" u="none" strike="noStrike" cap="none">
                          <a:solidFill>
                            <a:schemeClr val="lt1"/>
                          </a:solidFill>
                          <a:latin typeface="Times New Roman"/>
                          <a:ea typeface="Times New Roman"/>
                          <a:cs typeface="Times New Roman"/>
                          <a:sym typeface="Times New Roman"/>
                        </a:rPr>
                        <a:t>Work</a:t>
                      </a:r>
                      <a:endParaRPr sz="18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lt1"/>
                        </a:buClr>
                        <a:buSzPts val="1800"/>
                        <a:buFont typeface="Times New Roman"/>
                        <a:buNone/>
                      </a:pPr>
                      <a:r>
                        <a:rPr lang="en-IN" sz="1800" b="1" u="none" strike="noStrike" cap="none">
                          <a:solidFill>
                            <a:schemeClr val="lt1"/>
                          </a:solidFill>
                          <a:latin typeface="Times New Roman"/>
                          <a:ea typeface="Times New Roman"/>
                          <a:cs typeface="Times New Roman"/>
                          <a:sym typeface="Times New Roman"/>
                        </a:rPr>
                        <a:t>Decision</a:t>
                      </a:r>
                      <a:endParaRPr sz="18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0"/>
                  </a:ext>
                </a:extLst>
              </a:tr>
              <a:tr h="2937550">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10</a:t>
                      </a: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JARVIS: A PC Voice Assistant [10]</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Authors: Jash Vora, Deepak Yadav, Ronak Jain, Dr. D. GuptaYear: 2021 — IJASRW, Vol.4, Issue 7</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PC/Laptop</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SpeechRecognition, pyttsx3, Wikipedia, WolframAlpha</a:t>
                      </a: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Microphone, speaker</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Python</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Voice → Command → Execution → Speech output</a:t>
                      </a: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Hands-free voice assistant; supports visually impaired users.</a:t>
                      </a:r>
                      <a:endParaRPr sz="1800" u="none" strike="noStrike" cap="none">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1"/>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15"/>
          <p:cNvSpPr txBox="1">
            <a:spLocks noGrp="1"/>
          </p:cNvSpPr>
          <p:nvPr>
            <p:ph type="title"/>
          </p:nvPr>
        </p:nvSpPr>
        <p:spPr>
          <a:xfrm>
            <a:off x="0" y="18255"/>
            <a:ext cx="12192000" cy="1325563"/>
          </a:xfrm>
          <a:prstGeom prst="rect">
            <a:avLst/>
          </a:prstGeom>
          <a:solidFill>
            <a:srgbClr val="1F3864"/>
          </a:solidFill>
          <a:ln>
            <a:noFill/>
          </a:ln>
          <a:effectLst>
            <a:outerShdw blurRad="44450" dist="27940" dir="5400000" algn="ctr">
              <a:srgbClr val="000000">
                <a:alpha val="31372"/>
              </a:srgbClr>
            </a:outerShdw>
          </a:effectLst>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Times New Roman"/>
              <a:buNone/>
            </a:pPr>
            <a:r>
              <a:rPr lang="en-IN" sz="4400" b="1">
                <a:solidFill>
                  <a:schemeClr val="lt1"/>
                </a:solidFill>
                <a:latin typeface="Times New Roman"/>
                <a:ea typeface="Times New Roman"/>
                <a:cs typeface="Times New Roman"/>
                <a:sym typeface="Times New Roman"/>
              </a:rPr>
              <a:t>          Summary of Literature Survey  </a:t>
            </a:r>
            <a:endParaRPr/>
          </a:p>
        </p:txBody>
      </p:sp>
      <p:sp>
        <p:nvSpPr>
          <p:cNvPr id="182" name="Google Shape;182;p15"/>
          <p:cNvSpPr txBox="1"/>
          <p:nvPr/>
        </p:nvSpPr>
        <p:spPr>
          <a:xfrm>
            <a:off x="490330" y="1749288"/>
            <a:ext cx="10787270" cy="3477875"/>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2000"/>
              <a:buFont typeface="Arial"/>
              <a:buNone/>
            </a:pPr>
            <a:r>
              <a:rPr lang="en-IN" sz="2000" b="0" i="0" u="none" strike="noStrike" cap="none">
                <a:solidFill>
                  <a:srgbClr val="000000"/>
                </a:solidFill>
                <a:latin typeface="Times New Roman"/>
                <a:ea typeface="Times New Roman"/>
                <a:cs typeface="Times New Roman"/>
                <a:sym typeface="Times New Roman"/>
              </a:rPr>
              <a:t>1. Most projects focus on helping visually impaired people using OCR and Text-to-Speech (TTS).</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2000"/>
              <a:buFont typeface="Arial"/>
              <a:buNone/>
            </a:pPr>
            <a:endParaRPr sz="20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2000"/>
              <a:buFont typeface="Arial"/>
              <a:buNone/>
            </a:pPr>
            <a:r>
              <a:rPr lang="en-IN" sz="2000" b="0" i="0" u="none" strike="noStrike" cap="none">
                <a:solidFill>
                  <a:srgbClr val="000000"/>
                </a:solidFill>
                <a:latin typeface="Times New Roman"/>
                <a:ea typeface="Times New Roman"/>
                <a:cs typeface="Times New Roman"/>
                <a:sym typeface="Times New Roman"/>
              </a:rPr>
              <a:t>2. Raspberry Pi is the most commonly used low-cost board.</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2000"/>
              <a:buFont typeface="Arial"/>
              <a:buNone/>
            </a:pPr>
            <a:endParaRPr sz="20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2000"/>
              <a:buFont typeface="Arial"/>
              <a:buNone/>
            </a:pPr>
            <a:r>
              <a:rPr lang="en-IN" sz="2000" b="0" i="0" u="none" strike="noStrike" cap="none">
                <a:solidFill>
                  <a:srgbClr val="000000"/>
                </a:solidFill>
                <a:latin typeface="Times New Roman"/>
                <a:ea typeface="Times New Roman"/>
                <a:cs typeface="Times New Roman"/>
                <a:sym typeface="Times New Roman"/>
              </a:rPr>
              <a:t>3. Many systems support multiple languages like English, Tamil, Telugu, and Malayalam.</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2000"/>
              <a:buFont typeface="Arial"/>
              <a:buNone/>
            </a:pPr>
            <a:endParaRPr sz="20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2000"/>
              <a:buFont typeface="Arial"/>
              <a:buNone/>
            </a:pPr>
            <a:r>
              <a:rPr lang="en-IN" sz="2000" b="0" i="0" u="none" strike="noStrike" cap="none">
                <a:solidFill>
                  <a:srgbClr val="000000"/>
                </a:solidFill>
                <a:latin typeface="Times New Roman"/>
                <a:ea typeface="Times New Roman"/>
                <a:cs typeface="Times New Roman"/>
                <a:sym typeface="Times New Roman"/>
              </a:rPr>
              <a:t>4. Image preprocessing and AI models improved reading accuracy and speed.</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2000"/>
              <a:buFont typeface="Arial"/>
              <a:buNone/>
            </a:pPr>
            <a:endParaRPr sz="20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2000"/>
              <a:buFont typeface="Arial"/>
              <a:buNone/>
            </a:pPr>
            <a:r>
              <a:rPr lang="en-IN" sz="2000" b="0" i="0" u="none" strike="noStrike" cap="none">
                <a:solidFill>
                  <a:srgbClr val="000000"/>
                </a:solidFill>
                <a:latin typeface="Times New Roman"/>
                <a:ea typeface="Times New Roman"/>
                <a:cs typeface="Times New Roman"/>
                <a:sym typeface="Times New Roman"/>
              </a:rPr>
              <a:t>5. New systems use object detection, translation, and scene text for smarter reading.</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2000"/>
              <a:buFont typeface="Arial"/>
              <a:buNone/>
            </a:pPr>
            <a:endParaRPr sz="20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2000"/>
              <a:buFont typeface="Arial"/>
              <a:buNone/>
            </a:pPr>
            <a:r>
              <a:rPr lang="en-IN" sz="2000" b="0" i="0" u="none" strike="noStrike" cap="none">
                <a:solidFill>
                  <a:srgbClr val="000000"/>
                </a:solidFill>
                <a:latin typeface="Times New Roman"/>
                <a:ea typeface="Times New Roman"/>
                <a:cs typeface="Times New Roman"/>
                <a:sym typeface="Times New Roman"/>
              </a:rPr>
              <a:t>6. Overall, technology has moved from simple OCR tools to intelligent, multilingual reading assistants.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16"/>
          <p:cNvSpPr txBox="1"/>
          <p:nvPr/>
        </p:nvSpPr>
        <p:spPr>
          <a:xfrm>
            <a:off x="0" y="-8"/>
            <a:ext cx="12192000" cy="1325700"/>
          </a:xfrm>
          <a:prstGeom prst="rect">
            <a:avLst/>
          </a:prstGeom>
          <a:solidFill>
            <a:srgbClr val="1F3864"/>
          </a:solidFill>
          <a:ln>
            <a:noFill/>
          </a:ln>
          <a:effectLst>
            <a:outerShdw blurRad="44450" dist="27940" dir="5400000" algn="ctr">
              <a:srgbClr val="000000">
                <a:alpha val="31372"/>
              </a:srgbClr>
            </a:outerShdw>
          </a:effectLst>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lt1"/>
              </a:buClr>
              <a:buSzPts val="4400"/>
              <a:buFont typeface="Times New Roman"/>
              <a:buNone/>
            </a:pPr>
            <a:r>
              <a:rPr lang="en-IN" sz="4400" b="1" i="0" u="none" strike="noStrike" cap="none">
                <a:solidFill>
                  <a:schemeClr val="lt1"/>
                </a:solidFill>
                <a:latin typeface="Times New Roman"/>
                <a:ea typeface="Times New Roman"/>
                <a:cs typeface="Times New Roman"/>
                <a:sym typeface="Times New Roman"/>
              </a:rPr>
              <a:t>  </a:t>
            </a:r>
            <a:r>
              <a:rPr lang="en-IN" sz="4800" b="1" i="0" u="none" strike="noStrike" cap="none">
                <a:solidFill>
                  <a:schemeClr val="lt1"/>
                </a:solidFill>
                <a:latin typeface="Times New Roman"/>
                <a:ea typeface="Times New Roman"/>
                <a:cs typeface="Times New Roman"/>
                <a:sym typeface="Times New Roman"/>
              </a:rPr>
              <a:t>Problem Statement</a:t>
            </a:r>
            <a:endParaRPr sz="1400" b="0" i="0" u="none" strike="noStrike" cap="none">
              <a:solidFill>
                <a:srgbClr val="000000"/>
              </a:solidFill>
              <a:latin typeface="Arial"/>
              <a:ea typeface="Arial"/>
              <a:cs typeface="Arial"/>
              <a:sym typeface="Arial"/>
            </a:endParaRPr>
          </a:p>
        </p:txBody>
      </p:sp>
      <p:sp>
        <p:nvSpPr>
          <p:cNvPr id="188" name="Google Shape;188;p16"/>
          <p:cNvSpPr txBox="1"/>
          <p:nvPr/>
        </p:nvSpPr>
        <p:spPr>
          <a:xfrm>
            <a:off x="607450" y="1992150"/>
            <a:ext cx="11145600" cy="2647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2000"/>
              <a:buFont typeface="Arial"/>
              <a:buNone/>
            </a:pPr>
            <a:r>
              <a:rPr lang="en-IN" sz="2000" b="0" i="0" u="none" strike="noStrike" cap="none">
                <a:solidFill>
                  <a:schemeClr val="dk1"/>
                </a:solidFill>
                <a:latin typeface="Arial"/>
                <a:ea typeface="Arial"/>
                <a:cs typeface="Arial"/>
                <a:sym typeface="Arial"/>
              </a:rPr>
              <a:t>To design a blind person reader system that captures printed text from an A4 page, translates it into the desired language, and audibly delivers the output using a Raspberry Pi, camera, and speaker. The system aims to assist visually impaired individuals by enabling them to access and understand printed information in multiple languages, thereby promoting greater independence and inclusivity.</a:t>
            </a:r>
            <a:endParaRPr sz="20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17"/>
          <p:cNvSpPr txBox="1">
            <a:spLocks noGrp="1"/>
          </p:cNvSpPr>
          <p:nvPr>
            <p:ph type="title"/>
          </p:nvPr>
        </p:nvSpPr>
        <p:spPr>
          <a:xfrm>
            <a:off x="838200" y="1325563"/>
            <a:ext cx="10515600" cy="5532437"/>
          </a:xfrm>
          <a:prstGeom prst="rect">
            <a:avLst/>
          </a:prstGeom>
          <a:noFill/>
          <a:ln>
            <a:noFill/>
          </a:ln>
        </p:spPr>
        <p:txBody>
          <a:bodyPr spcFirstLastPara="1" wrap="square" lIns="91425" tIns="45700" rIns="91425" bIns="45700" anchor="ctr" anchorCtr="0">
            <a:noAutofit/>
          </a:bodyPr>
          <a:lstStyle/>
          <a:p>
            <a:pPr marL="0" lvl="0" indent="0" algn="l" rtl="0">
              <a:lnSpc>
                <a:spcPct val="150000"/>
              </a:lnSpc>
              <a:spcBef>
                <a:spcPts val="0"/>
              </a:spcBef>
              <a:spcAft>
                <a:spcPts val="0"/>
              </a:spcAft>
              <a:buClr>
                <a:schemeClr val="dk1"/>
              </a:buClr>
              <a:buSzPts val="2000"/>
              <a:buFont typeface="Times New Roman"/>
              <a:buNone/>
            </a:pPr>
            <a:br>
              <a:rPr lang="en-IN" sz="2000">
                <a:latin typeface="Times New Roman"/>
                <a:ea typeface="Times New Roman"/>
                <a:cs typeface="Times New Roman"/>
                <a:sym typeface="Times New Roman"/>
              </a:rPr>
            </a:br>
            <a:br>
              <a:rPr lang="en-IN" sz="2000">
                <a:latin typeface="Times New Roman"/>
                <a:ea typeface="Times New Roman"/>
                <a:cs typeface="Times New Roman"/>
                <a:sym typeface="Times New Roman"/>
              </a:rPr>
            </a:br>
            <a:br>
              <a:rPr lang="en-IN" sz="2000">
                <a:latin typeface="Times New Roman"/>
                <a:ea typeface="Times New Roman"/>
                <a:cs typeface="Times New Roman"/>
                <a:sym typeface="Times New Roman"/>
              </a:rPr>
            </a:br>
            <a:r>
              <a:rPr lang="en-IN" sz="2000">
                <a:latin typeface="Times New Roman"/>
                <a:ea typeface="Times New Roman"/>
                <a:cs typeface="Times New Roman"/>
                <a:sym typeface="Times New Roman"/>
              </a:rPr>
              <a:t>1. To implement an end-to-end system for blind users that captures printed text from books or documents using a camera, processes it with OCR (Optical Character Recognition). </a:t>
            </a:r>
            <a:br>
              <a:rPr lang="en-IN" sz="2000">
                <a:latin typeface="Times New Roman"/>
                <a:ea typeface="Times New Roman"/>
                <a:cs typeface="Times New Roman"/>
                <a:sym typeface="Times New Roman"/>
              </a:rPr>
            </a:br>
            <a:r>
              <a:rPr lang="en-IN" sz="2000">
                <a:latin typeface="Times New Roman"/>
                <a:ea typeface="Times New Roman"/>
                <a:cs typeface="Times New Roman"/>
                <a:sym typeface="Times New Roman"/>
              </a:rPr>
              <a:t>2. To enable real-time translation of detected text from a foreign language into the user's preferred language before audio output.</a:t>
            </a:r>
            <a:br>
              <a:rPr lang="en-IN" sz="2000">
                <a:latin typeface="Times New Roman"/>
                <a:ea typeface="Times New Roman"/>
                <a:cs typeface="Times New Roman"/>
                <a:sym typeface="Times New Roman"/>
              </a:rPr>
            </a:br>
            <a:r>
              <a:rPr lang="en-IN" sz="2000">
                <a:latin typeface="Times New Roman"/>
                <a:ea typeface="Times New Roman"/>
                <a:cs typeface="Times New Roman"/>
                <a:sym typeface="Times New Roman"/>
              </a:rPr>
              <a:t>3. To provide offline Text-to-Speech (TTS) functionality so that blind users can listen to content without needing internet access. </a:t>
            </a:r>
            <a:br>
              <a:rPr lang="en-IN" sz="2000">
                <a:latin typeface="Times New Roman"/>
                <a:ea typeface="Times New Roman"/>
                <a:cs typeface="Times New Roman"/>
                <a:sym typeface="Times New Roman"/>
              </a:rPr>
            </a:br>
            <a:r>
              <a:rPr lang="en-IN" sz="2000">
                <a:latin typeface="Times New Roman"/>
                <a:ea typeface="Times New Roman"/>
                <a:cs typeface="Times New Roman"/>
                <a:sym typeface="Times New Roman"/>
              </a:rPr>
              <a:t>4. To design the system in a low-cost and portable manner, so that it can be used easily by blind students and common people. </a:t>
            </a:r>
            <a:br>
              <a:rPr lang="en-IN" sz="2000">
                <a:latin typeface="Times New Roman"/>
                <a:ea typeface="Times New Roman"/>
                <a:cs typeface="Times New Roman"/>
                <a:sym typeface="Times New Roman"/>
              </a:rPr>
            </a:br>
            <a:r>
              <a:rPr lang="en-IN" sz="2000">
                <a:latin typeface="Times New Roman"/>
                <a:ea typeface="Times New Roman"/>
                <a:cs typeface="Times New Roman"/>
                <a:sym typeface="Times New Roman"/>
              </a:rPr>
              <a:t>5. To ensure multilingual support (e.g., Marathi, Hindi, English, French, etc.) for better accessibility.</a:t>
            </a:r>
            <a:br>
              <a:rPr lang="en-IN" sz="2000">
                <a:latin typeface="Times New Roman"/>
                <a:ea typeface="Times New Roman"/>
                <a:cs typeface="Times New Roman"/>
                <a:sym typeface="Times New Roman"/>
              </a:rPr>
            </a:br>
            <a:r>
              <a:rPr lang="en-IN" sz="2000">
                <a:latin typeface="Times New Roman"/>
                <a:ea typeface="Times New Roman"/>
                <a:cs typeface="Times New Roman"/>
                <a:sym typeface="Times New Roman"/>
              </a:rPr>
              <a:t>6. To enhance usability and independence of visually impaired persons by reducing their dependency on others for reading and understanding printed text.</a:t>
            </a:r>
            <a:br>
              <a:rPr lang="en-IN" sz="2000">
                <a:latin typeface="Times New Roman"/>
                <a:ea typeface="Times New Roman"/>
                <a:cs typeface="Times New Roman"/>
                <a:sym typeface="Times New Roman"/>
              </a:rPr>
            </a:br>
            <a:br>
              <a:rPr lang="en-IN" sz="2000">
                <a:latin typeface="Times New Roman"/>
                <a:ea typeface="Times New Roman"/>
                <a:cs typeface="Times New Roman"/>
                <a:sym typeface="Times New Roman"/>
              </a:rPr>
            </a:br>
            <a:br>
              <a:rPr lang="en-IN" sz="2000">
                <a:latin typeface="Times New Roman"/>
                <a:ea typeface="Times New Roman"/>
                <a:cs typeface="Times New Roman"/>
                <a:sym typeface="Times New Roman"/>
              </a:rPr>
            </a:br>
            <a:br>
              <a:rPr lang="en-IN" sz="2000" b="1">
                <a:solidFill>
                  <a:srgbClr val="C55A11"/>
                </a:solidFill>
                <a:latin typeface="Times New Roman"/>
                <a:ea typeface="Times New Roman"/>
                <a:cs typeface="Times New Roman"/>
                <a:sym typeface="Times New Roman"/>
              </a:rPr>
            </a:br>
            <a:endParaRPr sz="2000" b="1">
              <a:solidFill>
                <a:srgbClr val="C55A11"/>
              </a:solidFill>
              <a:latin typeface="Times New Roman"/>
              <a:ea typeface="Times New Roman"/>
              <a:cs typeface="Times New Roman"/>
              <a:sym typeface="Times New Roman"/>
            </a:endParaRPr>
          </a:p>
        </p:txBody>
      </p:sp>
      <p:sp>
        <p:nvSpPr>
          <p:cNvPr id="194" name="Google Shape;194;p17"/>
          <p:cNvSpPr txBox="1"/>
          <p:nvPr/>
        </p:nvSpPr>
        <p:spPr>
          <a:xfrm>
            <a:off x="0" y="0"/>
            <a:ext cx="12192000" cy="1325563"/>
          </a:xfrm>
          <a:prstGeom prst="rect">
            <a:avLst/>
          </a:prstGeom>
          <a:solidFill>
            <a:srgbClr val="1F3864"/>
          </a:solidFill>
          <a:ln>
            <a:noFill/>
          </a:ln>
          <a:effectLst>
            <a:outerShdw blurRad="44450" dist="27940" dir="5400000" algn="ctr">
              <a:srgbClr val="000000">
                <a:alpha val="31372"/>
              </a:srgbClr>
            </a:outerShdw>
          </a:effectLst>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lt1"/>
              </a:buClr>
              <a:buSzPts val="4400"/>
              <a:buFont typeface="Times New Roman"/>
              <a:buNone/>
            </a:pPr>
            <a:r>
              <a:rPr lang="en-IN" sz="4400" b="1" i="0" u="none" strike="noStrike" cap="none">
                <a:solidFill>
                  <a:schemeClr val="lt1"/>
                </a:solidFill>
                <a:latin typeface="Times New Roman"/>
                <a:ea typeface="Times New Roman"/>
                <a:cs typeface="Times New Roman"/>
                <a:sym typeface="Times New Roman"/>
              </a:rPr>
              <a:t>  Objectives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18"/>
          <p:cNvSpPr txBox="1"/>
          <p:nvPr/>
        </p:nvSpPr>
        <p:spPr>
          <a:xfrm>
            <a:off x="0" y="0"/>
            <a:ext cx="12293600" cy="1325563"/>
          </a:xfrm>
          <a:prstGeom prst="rect">
            <a:avLst/>
          </a:prstGeom>
          <a:solidFill>
            <a:srgbClr val="1F3864"/>
          </a:solidFill>
          <a:ln>
            <a:noFill/>
          </a:ln>
          <a:effectLst>
            <a:outerShdw blurRad="44450" dist="27940" dir="5400000" algn="ctr">
              <a:srgbClr val="000000">
                <a:alpha val="31372"/>
              </a:srgbClr>
            </a:outerShdw>
          </a:effectLst>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lt1"/>
              </a:buClr>
              <a:buSzPts val="4400"/>
              <a:buFont typeface="Times New Roman"/>
              <a:buNone/>
            </a:pPr>
            <a:r>
              <a:rPr lang="en-IN" sz="4400" b="1" i="0" u="none" strike="noStrike" cap="none">
                <a:solidFill>
                  <a:schemeClr val="lt1"/>
                </a:solidFill>
                <a:latin typeface="Times New Roman"/>
                <a:ea typeface="Times New Roman"/>
                <a:cs typeface="Times New Roman"/>
                <a:sym typeface="Times New Roman"/>
              </a:rPr>
              <a:t>  Block Diagram </a:t>
            </a:r>
            <a:endParaRPr sz="1400" b="0" i="0" u="none" strike="noStrike" cap="none">
              <a:solidFill>
                <a:srgbClr val="000000"/>
              </a:solidFill>
              <a:latin typeface="Arial"/>
              <a:ea typeface="Arial"/>
              <a:cs typeface="Arial"/>
              <a:sym typeface="Arial"/>
            </a:endParaRPr>
          </a:p>
        </p:txBody>
      </p:sp>
      <p:pic>
        <p:nvPicPr>
          <p:cNvPr id="200" name="Google Shape;200;p18"/>
          <p:cNvPicPr preferRelativeResize="0"/>
          <p:nvPr/>
        </p:nvPicPr>
        <p:blipFill rotWithShape="1">
          <a:blip r:embed="rId3">
            <a:alphaModFix/>
          </a:blip>
          <a:srcRect/>
          <a:stretch/>
        </p:blipFill>
        <p:spPr>
          <a:xfrm>
            <a:off x="177500" y="1184050"/>
            <a:ext cx="11863001" cy="5520858"/>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19"/>
          <p:cNvSpPr txBox="1"/>
          <p:nvPr/>
        </p:nvSpPr>
        <p:spPr>
          <a:xfrm>
            <a:off x="57225" y="389275"/>
            <a:ext cx="3492000" cy="982200"/>
          </a:xfrm>
          <a:prstGeom prst="rect">
            <a:avLst/>
          </a:prstGeom>
          <a:solidFill>
            <a:srgbClr val="1F3864"/>
          </a:solidFill>
          <a:ln>
            <a:noFill/>
          </a:ln>
          <a:effectLst>
            <a:outerShdw blurRad="44450" dist="27940" dir="5400000" algn="ctr">
              <a:srgbClr val="000000">
                <a:alpha val="31372"/>
              </a:srgbClr>
            </a:outerShdw>
          </a:effectLst>
        </p:spPr>
        <p:txBody>
          <a:bodyPr spcFirstLastPara="1" wrap="square" lIns="91425" tIns="45700" rIns="91425" bIns="45700" anchor="ctr" anchorCtr="0">
            <a:normAutofit fontScale="92500"/>
          </a:bodyPr>
          <a:lstStyle/>
          <a:p>
            <a:pPr marL="0" marR="0" lvl="0" indent="0" algn="l" rtl="0">
              <a:lnSpc>
                <a:spcPct val="90000"/>
              </a:lnSpc>
              <a:spcBef>
                <a:spcPts val="0"/>
              </a:spcBef>
              <a:spcAft>
                <a:spcPts val="0"/>
              </a:spcAft>
              <a:buClr>
                <a:schemeClr val="lt1"/>
              </a:buClr>
              <a:buSzPct val="100000"/>
              <a:buFont typeface="Times New Roman"/>
              <a:buNone/>
            </a:pPr>
            <a:r>
              <a:rPr lang="en-IN" sz="4400" b="1" i="0" u="none" strike="noStrike" cap="none">
                <a:solidFill>
                  <a:schemeClr val="lt1"/>
                </a:solidFill>
                <a:latin typeface="Times New Roman"/>
                <a:ea typeface="Times New Roman"/>
                <a:cs typeface="Times New Roman"/>
                <a:sym typeface="Times New Roman"/>
              </a:rPr>
              <a:t>  Methodology</a:t>
            </a:r>
            <a:endParaRPr sz="1400" b="0" i="0" u="none" strike="noStrike" cap="none">
              <a:solidFill>
                <a:srgbClr val="000000"/>
              </a:solidFill>
              <a:latin typeface="Arial"/>
              <a:ea typeface="Arial"/>
              <a:cs typeface="Arial"/>
              <a:sym typeface="Arial"/>
            </a:endParaRPr>
          </a:p>
        </p:txBody>
      </p:sp>
      <p:pic>
        <p:nvPicPr>
          <p:cNvPr id="206" name="Google Shape;206;p19"/>
          <p:cNvPicPr preferRelativeResize="0"/>
          <p:nvPr/>
        </p:nvPicPr>
        <p:blipFill rotWithShape="1">
          <a:blip r:embed="rId3">
            <a:alphaModFix/>
          </a:blip>
          <a:srcRect/>
          <a:stretch/>
        </p:blipFill>
        <p:spPr>
          <a:xfrm>
            <a:off x="4132950" y="121925"/>
            <a:ext cx="4262325" cy="66141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20"/>
          <p:cNvSpPr txBox="1">
            <a:spLocks noGrp="1"/>
          </p:cNvSpPr>
          <p:nvPr>
            <p:ph type="title"/>
          </p:nvPr>
        </p:nvSpPr>
        <p:spPr>
          <a:xfrm>
            <a:off x="0" y="9788"/>
            <a:ext cx="12192000" cy="1325563"/>
          </a:xfrm>
          <a:prstGeom prst="rect">
            <a:avLst/>
          </a:prstGeom>
          <a:solidFill>
            <a:srgbClr val="1F3864"/>
          </a:solidFill>
          <a:ln>
            <a:noFill/>
          </a:ln>
          <a:effectLst>
            <a:outerShdw blurRad="44450" dist="27940" dir="5400000" algn="ctr">
              <a:srgbClr val="000000">
                <a:alpha val="31372"/>
              </a:srgbClr>
            </a:outerShdw>
          </a:effectLst>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Times New Roman"/>
              <a:buNone/>
            </a:pPr>
            <a:r>
              <a:rPr lang="en-IN" b="1">
                <a:solidFill>
                  <a:schemeClr val="lt1"/>
                </a:solidFill>
                <a:latin typeface="Times New Roman"/>
                <a:ea typeface="Times New Roman"/>
                <a:cs typeface="Times New Roman"/>
                <a:sym typeface="Times New Roman"/>
              </a:rPr>
              <a:t> Component Selection - Board</a:t>
            </a:r>
            <a:endParaRPr sz="4400" b="1">
              <a:solidFill>
                <a:schemeClr val="lt1"/>
              </a:solidFill>
              <a:latin typeface="Times New Roman"/>
              <a:ea typeface="Times New Roman"/>
              <a:cs typeface="Times New Roman"/>
              <a:sym typeface="Times New Roman"/>
            </a:endParaRPr>
          </a:p>
        </p:txBody>
      </p:sp>
      <p:graphicFrame>
        <p:nvGraphicFramePr>
          <p:cNvPr id="212" name="Google Shape;212;p20"/>
          <p:cNvGraphicFramePr/>
          <p:nvPr/>
        </p:nvGraphicFramePr>
        <p:xfrm>
          <a:off x="194733" y="1583267"/>
          <a:ext cx="11794075" cy="4847950"/>
        </p:xfrm>
        <a:graphic>
          <a:graphicData uri="http://schemas.openxmlformats.org/drawingml/2006/table">
            <a:tbl>
              <a:tblPr firstRow="1" bandRow="1">
                <a:noFill/>
                <a:tableStyleId>{2BE4A156-D856-4294-9C9A-E00CE88E0922}</a:tableStyleId>
              </a:tblPr>
              <a:tblGrid>
                <a:gridCol w="869275">
                  <a:extLst>
                    <a:ext uri="{9D8B030D-6E8A-4147-A177-3AD203B41FA5}">
                      <a16:colId xmlns:a16="http://schemas.microsoft.com/office/drawing/2014/main" val="20000"/>
                    </a:ext>
                  </a:extLst>
                </a:gridCol>
                <a:gridCol w="1920850">
                  <a:extLst>
                    <a:ext uri="{9D8B030D-6E8A-4147-A177-3AD203B41FA5}">
                      <a16:colId xmlns:a16="http://schemas.microsoft.com/office/drawing/2014/main" val="20001"/>
                    </a:ext>
                  </a:extLst>
                </a:gridCol>
                <a:gridCol w="2212150">
                  <a:extLst>
                    <a:ext uri="{9D8B030D-6E8A-4147-A177-3AD203B41FA5}">
                      <a16:colId xmlns:a16="http://schemas.microsoft.com/office/drawing/2014/main" val="20002"/>
                    </a:ext>
                  </a:extLst>
                </a:gridCol>
                <a:gridCol w="3087175">
                  <a:extLst>
                    <a:ext uri="{9D8B030D-6E8A-4147-A177-3AD203B41FA5}">
                      <a16:colId xmlns:a16="http://schemas.microsoft.com/office/drawing/2014/main" val="20003"/>
                    </a:ext>
                  </a:extLst>
                </a:gridCol>
                <a:gridCol w="3704625">
                  <a:extLst>
                    <a:ext uri="{9D8B030D-6E8A-4147-A177-3AD203B41FA5}">
                      <a16:colId xmlns:a16="http://schemas.microsoft.com/office/drawing/2014/main" val="20004"/>
                    </a:ext>
                  </a:extLst>
                </a:gridCol>
              </a:tblGrid>
              <a:tr h="692375">
                <a:tc>
                  <a:txBody>
                    <a:bodyPr/>
                    <a:lstStyle/>
                    <a:p>
                      <a:pPr marL="0" marR="0" lvl="0" indent="0" algn="ctr" rtl="0">
                        <a:lnSpc>
                          <a:spcPct val="100000"/>
                        </a:lnSpc>
                        <a:spcBef>
                          <a:spcPts val="0"/>
                        </a:spcBef>
                        <a:spcAft>
                          <a:spcPts val="0"/>
                        </a:spcAft>
                        <a:buClr>
                          <a:srgbClr val="000000"/>
                        </a:buClr>
                        <a:buSzPts val="2000"/>
                        <a:buFont typeface="Arial"/>
                        <a:buNone/>
                      </a:pPr>
                      <a:r>
                        <a:rPr lang="en-IN" sz="2000" u="none" strike="noStrike" cap="none">
                          <a:latin typeface="Times New Roman"/>
                          <a:ea typeface="Times New Roman"/>
                          <a:cs typeface="Times New Roman"/>
                          <a:sym typeface="Times New Roman"/>
                        </a:rPr>
                        <a:t>Sr</a:t>
                      </a:r>
                      <a:endParaRPr sz="1400" u="none" strike="noStrike" cap="none"/>
                    </a:p>
                    <a:p>
                      <a:pPr marL="0" marR="0" lvl="0" indent="0" algn="ctr" rtl="0">
                        <a:lnSpc>
                          <a:spcPct val="100000"/>
                        </a:lnSpc>
                        <a:spcBef>
                          <a:spcPts val="0"/>
                        </a:spcBef>
                        <a:spcAft>
                          <a:spcPts val="0"/>
                        </a:spcAft>
                        <a:buClr>
                          <a:srgbClr val="000000"/>
                        </a:buClr>
                        <a:buSzPts val="2000"/>
                        <a:buFont typeface="Arial"/>
                        <a:buNone/>
                      </a:pPr>
                      <a:r>
                        <a:rPr lang="en-IN" sz="2000" u="none" strike="noStrike" cap="none">
                          <a:latin typeface="Times New Roman"/>
                          <a:ea typeface="Times New Roman"/>
                          <a:cs typeface="Times New Roman"/>
                          <a:sym typeface="Times New Roman"/>
                        </a:rPr>
                        <a:t>No.</a:t>
                      </a:r>
                      <a:endParaRPr sz="20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600"/>
                        <a:buFont typeface="Arial"/>
                        <a:buNone/>
                      </a:pPr>
                      <a:r>
                        <a:rPr lang="en-IN" sz="1600" u="none" strike="noStrike" cap="none">
                          <a:latin typeface="Times New Roman"/>
                          <a:ea typeface="Times New Roman"/>
                          <a:cs typeface="Times New Roman"/>
                          <a:sym typeface="Times New Roman"/>
                        </a:rPr>
                        <a:t>Feature</a:t>
                      </a:r>
                      <a:endParaRPr sz="1400" u="none" strike="noStrike" cap="none"/>
                    </a:p>
                    <a:p>
                      <a:pPr marL="0" marR="0" lvl="0" indent="0" algn="ctr" rtl="0">
                        <a:lnSpc>
                          <a:spcPct val="100000"/>
                        </a:lnSpc>
                        <a:spcBef>
                          <a:spcPts val="0"/>
                        </a:spcBef>
                        <a:spcAft>
                          <a:spcPts val="0"/>
                        </a:spcAft>
                        <a:buClr>
                          <a:srgbClr val="000000"/>
                        </a:buClr>
                        <a:buSzPts val="2000"/>
                        <a:buFont typeface="Arial"/>
                        <a:buNone/>
                      </a:pPr>
                      <a:endParaRPr sz="20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Arduino Uno</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Raspberry Pi 4</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Raspberry Pi 5</a:t>
                      </a:r>
                      <a:endParaRPr sz="1400" u="none" strike="noStrike" cap="none"/>
                    </a:p>
                  </a:txBody>
                  <a:tcPr marL="91450" marR="91450" marT="45725" marB="45725"/>
                </a:tc>
                <a:extLst>
                  <a:ext uri="{0D108BD9-81ED-4DB2-BD59-A6C34878D82A}">
                    <a16:rowId xmlns:a16="http://schemas.microsoft.com/office/drawing/2014/main" val="10000"/>
                  </a:ext>
                </a:extLst>
              </a:tr>
              <a:tr h="788575">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1.</a:t>
                      </a: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Operating System</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No OS</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Linux-based OS (Raspberry Pi OS)</a:t>
                      </a: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Linux-based OS (Raspberry Pi OS, faster boot)</a:t>
                      </a:r>
                      <a:endParaRPr sz="1800" u="none" strike="noStrike" cap="none">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1"/>
                  </a:ext>
                </a:extLst>
              </a:tr>
              <a:tr h="640575">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2.</a:t>
                      </a: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Storage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No internal storage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microSD card</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microSD card (faster I/O support)</a:t>
                      </a:r>
                      <a:endParaRPr sz="1400" u="none" strike="noStrike" cap="none"/>
                    </a:p>
                  </a:txBody>
                  <a:tcPr marL="91450" marR="91450" marT="45725" marB="45725"/>
                </a:tc>
                <a:extLst>
                  <a:ext uri="{0D108BD9-81ED-4DB2-BD59-A6C34878D82A}">
                    <a16:rowId xmlns:a16="http://schemas.microsoft.com/office/drawing/2014/main" val="10002"/>
                  </a:ext>
                </a:extLst>
              </a:tr>
              <a:tr h="1168100">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3.</a:t>
                      </a: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Connectivity</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USB, GPIO, limited serial</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USB 3.0, HDMI, Ethernet, Wi-Fi, Bluetooth</a:t>
                      </a: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Dual USB 3.0, PCIe, HDMI, Gigabit Ethernet, faster Wi-Fi &amp; Bluetooth</a:t>
                      </a:r>
                      <a:endParaRPr sz="1400" u="none" strike="noStrike" cap="none"/>
                    </a:p>
                  </a:txBody>
                  <a:tcPr marL="91450" marR="91450" marT="45725" marB="45725"/>
                </a:tc>
                <a:extLst>
                  <a:ext uri="{0D108BD9-81ED-4DB2-BD59-A6C34878D82A}">
                    <a16:rowId xmlns:a16="http://schemas.microsoft.com/office/drawing/2014/main" val="10003"/>
                  </a:ext>
                </a:extLst>
              </a:tr>
              <a:tr h="645300">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4.</a:t>
                      </a: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Camera Support</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No Camera Port</a:t>
                      </a:r>
                      <a:endParaRPr sz="18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2 × CSI camera ports</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2 × CSI/DSI ports with higher data rate</a:t>
                      </a:r>
                      <a:endParaRPr sz="1800" u="none" strike="noStrike" cap="none">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4"/>
                  </a:ext>
                </a:extLst>
              </a:tr>
              <a:tr h="904350">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5.</a:t>
                      </a: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Best Use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Sensor control, small IoT</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Medium AI, multimedia projects</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a:latin typeface="Times New Roman"/>
                          <a:ea typeface="Times New Roman"/>
                          <a:cs typeface="Times New Roman"/>
                          <a:sym typeface="Times New Roman"/>
                        </a:rPr>
                        <a:t>High-performance AI, camera, TTS, translation</a:t>
                      </a:r>
                      <a:endParaRPr sz="1800" u="none" strike="noStrike" cap="none">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5"/>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21"/>
          <p:cNvSpPr txBox="1">
            <a:spLocks noGrp="1"/>
          </p:cNvSpPr>
          <p:nvPr>
            <p:ph type="title"/>
          </p:nvPr>
        </p:nvSpPr>
        <p:spPr>
          <a:xfrm>
            <a:off x="0" y="18255"/>
            <a:ext cx="12192000" cy="1325563"/>
          </a:xfrm>
          <a:prstGeom prst="rect">
            <a:avLst/>
          </a:prstGeom>
          <a:solidFill>
            <a:srgbClr val="1F3864"/>
          </a:solidFill>
          <a:ln>
            <a:noFill/>
          </a:ln>
          <a:effectLst>
            <a:outerShdw blurRad="44450" dist="27940" dir="5400000" algn="ctr">
              <a:srgbClr val="000000">
                <a:alpha val="31372"/>
              </a:srgbClr>
            </a:outerShdw>
          </a:effectLst>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Times New Roman"/>
              <a:buNone/>
            </a:pPr>
            <a:r>
              <a:rPr lang="en-IN" sz="4400" b="1">
                <a:solidFill>
                  <a:schemeClr val="lt1"/>
                </a:solidFill>
                <a:latin typeface="Times New Roman"/>
                <a:ea typeface="Times New Roman"/>
                <a:cs typeface="Times New Roman"/>
                <a:sym typeface="Times New Roman"/>
              </a:rPr>
              <a:t>  </a:t>
            </a:r>
            <a:r>
              <a:rPr lang="en-IN" b="1">
                <a:solidFill>
                  <a:schemeClr val="lt1"/>
                </a:solidFill>
                <a:latin typeface="Times New Roman"/>
                <a:ea typeface="Times New Roman"/>
                <a:cs typeface="Times New Roman"/>
                <a:sym typeface="Times New Roman"/>
              </a:rPr>
              <a:t>Software Comparison</a:t>
            </a:r>
            <a:endParaRPr sz="4400" b="1">
              <a:solidFill>
                <a:schemeClr val="lt1"/>
              </a:solidFill>
              <a:latin typeface="Times New Roman"/>
              <a:ea typeface="Times New Roman"/>
              <a:cs typeface="Times New Roman"/>
              <a:sym typeface="Times New Roman"/>
            </a:endParaRPr>
          </a:p>
        </p:txBody>
      </p:sp>
      <p:sp>
        <p:nvSpPr>
          <p:cNvPr id="218" name="Google Shape;218;p21"/>
          <p:cNvSpPr txBox="1"/>
          <p:nvPr/>
        </p:nvSpPr>
        <p:spPr>
          <a:xfrm>
            <a:off x="0" y="9788"/>
            <a:ext cx="12192000" cy="1325563"/>
          </a:xfrm>
          <a:prstGeom prst="rect">
            <a:avLst/>
          </a:prstGeom>
          <a:solidFill>
            <a:srgbClr val="1F3864"/>
          </a:solidFill>
          <a:ln>
            <a:noFill/>
          </a:ln>
          <a:effectLst>
            <a:outerShdw blurRad="44450" dist="27940" dir="5400000" algn="ctr">
              <a:srgbClr val="000000">
                <a:alpha val="31372"/>
              </a:srgbClr>
            </a:outerShdw>
          </a:effectLst>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lt1"/>
              </a:buClr>
              <a:buSzPts val="4400"/>
              <a:buFont typeface="Times New Roman"/>
              <a:buNone/>
            </a:pPr>
            <a:r>
              <a:rPr lang="en-IN" sz="4400" b="1" i="0" u="none" strike="noStrike" cap="none">
                <a:solidFill>
                  <a:schemeClr val="lt1"/>
                </a:solidFill>
                <a:latin typeface="Times New Roman"/>
                <a:ea typeface="Times New Roman"/>
                <a:cs typeface="Times New Roman"/>
                <a:sym typeface="Times New Roman"/>
              </a:rPr>
              <a:t> Component Selection - Camera</a:t>
            </a:r>
            <a:endParaRPr sz="1400" b="0" i="0" u="none" strike="noStrike" cap="none">
              <a:solidFill>
                <a:srgbClr val="000000"/>
              </a:solidFill>
              <a:latin typeface="Arial"/>
              <a:ea typeface="Arial"/>
              <a:cs typeface="Arial"/>
              <a:sym typeface="Arial"/>
            </a:endParaRPr>
          </a:p>
        </p:txBody>
      </p:sp>
      <p:graphicFrame>
        <p:nvGraphicFramePr>
          <p:cNvPr id="219" name="Google Shape;219;p21"/>
          <p:cNvGraphicFramePr/>
          <p:nvPr/>
        </p:nvGraphicFramePr>
        <p:xfrm>
          <a:off x="260059" y="1635853"/>
          <a:ext cx="11719400" cy="3218400"/>
        </p:xfrm>
        <a:graphic>
          <a:graphicData uri="http://schemas.openxmlformats.org/drawingml/2006/table">
            <a:tbl>
              <a:tblPr firstRow="1" bandRow="1">
                <a:noFill/>
                <a:tableStyleId>{2BE4A156-D856-4294-9C9A-E00CE88E0922}</a:tableStyleId>
              </a:tblPr>
              <a:tblGrid>
                <a:gridCol w="1407975">
                  <a:extLst>
                    <a:ext uri="{9D8B030D-6E8A-4147-A177-3AD203B41FA5}">
                      <a16:colId xmlns:a16="http://schemas.microsoft.com/office/drawing/2014/main" val="20000"/>
                    </a:ext>
                  </a:extLst>
                </a:gridCol>
                <a:gridCol w="2062275">
                  <a:extLst>
                    <a:ext uri="{9D8B030D-6E8A-4147-A177-3AD203B41FA5}">
                      <a16:colId xmlns:a16="http://schemas.microsoft.com/office/drawing/2014/main" val="20001"/>
                    </a:ext>
                  </a:extLst>
                </a:gridCol>
                <a:gridCol w="3863675">
                  <a:extLst>
                    <a:ext uri="{9D8B030D-6E8A-4147-A177-3AD203B41FA5}">
                      <a16:colId xmlns:a16="http://schemas.microsoft.com/office/drawing/2014/main" val="20002"/>
                    </a:ext>
                  </a:extLst>
                </a:gridCol>
                <a:gridCol w="4385475">
                  <a:extLst>
                    <a:ext uri="{9D8B030D-6E8A-4147-A177-3AD203B41FA5}">
                      <a16:colId xmlns:a16="http://schemas.microsoft.com/office/drawing/2014/main" val="20003"/>
                    </a:ext>
                  </a:extLst>
                </a:gridCol>
              </a:tblGrid>
              <a:tr h="536400">
                <a:tc>
                  <a:txBody>
                    <a:bodyPr/>
                    <a:lstStyle/>
                    <a:p>
                      <a:pPr marL="0" marR="0" lvl="0" indent="0" algn="l" rtl="0">
                        <a:lnSpc>
                          <a:spcPct val="100000"/>
                        </a:lnSpc>
                        <a:spcBef>
                          <a:spcPts val="0"/>
                        </a:spcBef>
                        <a:spcAft>
                          <a:spcPts val="0"/>
                        </a:spcAft>
                        <a:buClr>
                          <a:srgbClr val="000000"/>
                        </a:buClr>
                        <a:buSzPts val="1400"/>
                        <a:buFont typeface="Arial"/>
                        <a:buNone/>
                      </a:pPr>
                      <a:r>
                        <a:rPr lang="en-IN" sz="1400" u="none" strike="noStrike" cap="none"/>
                        <a:t>Sr No.</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IN" sz="1400" u="none" strike="noStrike" cap="none"/>
                        <a:t>Feature</a:t>
                      </a:r>
                      <a:endParaRPr sz="1400" u="none" strike="noStrike" cap="none"/>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00"/>
                        <a:buFont typeface="Arial"/>
                        <a:buNone/>
                      </a:pPr>
                      <a:r>
                        <a:rPr lang="en-IN" sz="1400" b="1" u="none" strike="noStrike" cap="none"/>
                        <a:t>Raspberry Pi Camera</a:t>
                      </a:r>
                      <a:endParaRPr sz="1400" u="none" strike="noStrike" cap="none"/>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00"/>
                        <a:buFont typeface="Arial"/>
                        <a:buNone/>
                      </a:pPr>
                      <a:r>
                        <a:rPr lang="en-IN" sz="1400" u="none" strike="noStrike" cap="none"/>
                        <a:t>Fingers </a:t>
                      </a:r>
                      <a:r>
                        <a:rPr lang="en-IN" sz="1400" b="1" u="none" strike="noStrike" cap="none"/>
                        <a:t> Webcam</a:t>
                      </a:r>
                      <a:endParaRPr sz="1400" u="none" strike="noStrike" cap="none"/>
                    </a:p>
                  </a:txBody>
                  <a:tcPr marL="91450" marR="91450" marT="45725" marB="45725" anchor="ctr"/>
                </a:tc>
                <a:extLst>
                  <a:ext uri="{0D108BD9-81ED-4DB2-BD59-A6C34878D82A}">
                    <a16:rowId xmlns:a16="http://schemas.microsoft.com/office/drawing/2014/main" val="10000"/>
                  </a:ext>
                </a:extLst>
              </a:tr>
              <a:tr h="536400">
                <a:tc>
                  <a:txBody>
                    <a:bodyPr/>
                    <a:lstStyle/>
                    <a:p>
                      <a:pPr marL="0" marR="0" lvl="0" indent="0" algn="l" rtl="0">
                        <a:lnSpc>
                          <a:spcPct val="100000"/>
                        </a:lnSpc>
                        <a:spcBef>
                          <a:spcPts val="0"/>
                        </a:spcBef>
                        <a:spcAft>
                          <a:spcPts val="0"/>
                        </a:spcAft>
                        <a:buClr>
                          <a:srgbClr val="000000"/>
                        </a:buClr>
                        <a:buSzPts val="1400"/>
                        <a:buFont typeface="Arial"/>
                        <a:buNone/>
                      </a:pPr>
                      <a:r>
                        <a:rPr lang="en-IN" sz="1400" u="none" strike="noStrike" cap="none"/>
                        <a:t>1.</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IN" sz="1400" b="1" u="none" strike="noStrike" cap="none"/>
                        <a:t>Best For</a:t>
                      </a:r>
                      <a:endParaRPr sz="1400" u="none" strike="noStrike" cap="none"/>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00"/>
                        <a:buFont typeface="Arial"/>
                        <a:buNone/>
                      </a:pPr>
                      <a:r>
                        <a:rPr lang="en-IN" sz="1400" u="none" strike="noStrike" cap="none"/>
                        <a:t>OCR and text reading</a:t>
                      </a:r>
                      <a:endParaRPr sz="1400" u="none" strike="noStrike" cap="none"/>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00"/>
                        <a:buFont typeface="Arial"/>
                        <a:buNone/>
                      </a:pPr>
                      <a:r>
                        <a:rPr lang="en-IN" sz="1400" u="none" strike="noStrike" cap="none"/>
                        <a:t>Photo captured</a:t>
                      </a:r>
                      <a:endParaRPr sz="1400" u="none" strike="noStrike" cap="none"/>
                    </a:p>
                  </a:txBody>
                  <a:tcPr marL="91450" marR="91450" marT="45725" marB="45725" anchor="ctr"/>
                </a:tc>
                <a:extLst>
                  <a:ext uri="{0D108BD9-81ED-4DB2-BD59-A6C34878D82A}">
                    <a16:rowId xmlns:a16="http://schemas.microsoft.com/office/drawing/2014/main" val="10001"/>
                  </a:ext>
                </a:extLst>
              </a:tr>
              <a:tr h="536400">
                <a:tc>
                  <a:txBody>
                    <a:bodyPr/>
                    <a:lstStyle/>
                    <a:p>
                      <a:pPr marL="0" marR="0" lvl="0" indent="0" algn="l" rtl="0">
                        <a:lnSpc>
                          <a:spcPct val="100000"/>
                        </a:lnSpc>
                        <a:spcBef>
                          <a:spcPts val="0"/>
                        </a:spcBef>
                        <a:spcAft>
                          <a:spcPts val="0"/>
                        </a:spcAft>
                        <a:buClr>
                          <a:srgbClr val="000000"/>
                        </a:buClr>
                        <a:buSzPts val="1400"/>
                        <a:buFont typeface="Arial"/>
                        <a:buNone/>
                      </a:pPr>
                      <a:r>
                        <a:rPr lang="en-IN" sz="1400" u="none" strike="noStrike" cap="none"/>
                        <a:t>2.</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IN" sz="1400" b="1" u="none" strike="noStrike" cap="none"/>
                        <a:t>Connection</a:t>
                      </a:r>
                      <a:endParaRPr sz="1400" u="none" strike="noStrike" cap="none"/>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00"/>
                        <a:buFont typeface="Arial"/>
                        <a:buNone/>
                      </a:pPr>
                      <a:r>
                        <a:rPr lang="en-IN" sz="1400" u="none" strike="noStrike" cap="none"/>
                        <a:t>CSI port</a:t>
                      </a:r>
                      <a:endParaRPr sz="1400" u="none" strike="noStrike" cap="none"/>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00"/>
                        <a:buFont typeface="Arial"/>
                        <a:buNone/>
                      </a:pPr>
                      <a:r>
                        <a:rPr lang="en-IN" sz="1400" u="none" strike="noStrike" cap="none"/>
                        <a:t>USB port</a:t>
                      </a:r>
                      <a:endParaRPr sz="1400" u="none" strike="noStrike" cap="none"/>
                    </a:p>
                  </a:txBody>
                  <a:tcPr marL="91450" marR="91450" marT="45725" marB="45725" anchor="ctr"/>
                </a:tc>
                <a:extLst>
                  <a:ext uri="{0D108BD9-81ED-4DB2-BD59-A6C34878D82A}">
                    <a16:rowId xmlns:a16="http://schemas.microsoft.com/office/drawing/2014/main" val="10002"/>
                  </a:ext>
                </a:extLst>
              </a:tr>
              <a:tr h="536400">
                <a:tc>
                  <a:txBody>
                    <a:bodyPr/>
                    <a:lstStyle/>
                    <a:p>
                      <a:pPr marL="0" marR="0" lvl="0" indent="0" algn="l" rtl="0">
                        <a:lnSpc>
                          <a:spcPct val="100000"/>
                        </a:lnSpc>
                        <a:spcBef>
                          <a:spcPts val="0"/>
                        </a:spcBef>
                        <a:spcAft>
                          <a:spcPts val="0"/>
                        </a:spcAft>
                        <a:buClr>
                          <a:srgbClr val="000000"/>
                        </a:buClr>
                        <a:buSzPts val="1400"/>
                        <a:buFont typeface="Arial"/>
                        <a:buNone/>
                      </a:pPr>
                      <a:r>
                        <a:rPr lang="en-IN" sz="1400" u="none" strike="noStrike" cap="none"/>
                        <a:t>3.</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IN" sz="1400" b="1" u="none" strike="noStrike" cap="none"/>
                        <a:t>Speed</a:t>
                      </a:r>
                      <a:endParaRPr sz="1400" u="none" strike="noStrike" cap="none"/>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00"/>
                        <a:buFont typeface="Arial"/>
                        <a:buNone/>
                      </a:pPr>
                      <a:r>
                        <a:rPr lang="en-IN" sz="1400" u="none" strike="noStrike" cap="none"/>
                        <a:t>Fast capture</a:t>
                      </a:r>
                      <a:endParaRPr sz="1400" u="none" strike="noStrike" cap="none"/>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00"/>
                        <a:buFont typeface="Arial"/>
                        <a:buNone/>
                      </a:pPr>
                      <a:r>
                        <a:rPr lang="en-IN" sz="1400" u="none" strike="noStrike" cap="none"/>
                        <a:t>Slower</a:t>
                      </a:r>
                      <a:endParaRPr sz="1400" u="none" strike="noStrike" cap="none"/>
                    </a:p>
                  </a:txBody>
                  <a:tcPr marL="91450" marR="91450" marT="45725" marB="45725" anchor="ctr"/>
                </a:tc>
                <a:extLst>
                  <a:ext uri="{0D108BD9-81ED-4DB2-BD59-A6C34878D82A}">
                    <a16:rowId xmlns:a16="http://schemas.microsoft.com/office/drawing/2014/main" val="10003"/>
                  </a:ext>
                </a:extLst>
              </a:tr>
              <a:tr h="536400">
                <a:tc>
                  <a:txBody>
                    <a:bodyPr/>
                    <a:lstStyle/>
                    <a:p>
                      <a:pPr marL="0" marR="0" lvl="0" indent="0" algn="l" rtl="0">
                        <a:lnSpc>
                          <a:spcPct val="100000"/>
                        </a:lnSpc>
                        <a:spcBef>
                          <a:spcPts val="0"/>
                        </a:spcBef>
                        <a:spcAft>
                          <a:spcPts val="0"/>
                        </a:spcAft>
                        <a:buClr>
                          <a:srgbClr val="000000"/>
                        </a:buClr>
                        <a:buSzPts val="1400"/>
                        <a:buFont typeface="Arial"/>
                        <a:buNone/>
                      </a:pPr>
                      <a:r>
                        <a:rPr lang="en-IN" sz="1400" u="none" strike="noStrike" cap="none"/>
                        <a:t>4.</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IN" sz="1400" b="1" u="none" strike="noStrike" cap="none"/>
                        <a:t>Focus</a:t>
                      </a:r>
                      <a:endParaRPr sz="1400" u="none" strike="noStrike" cap="none"/>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00"/>
                        <a:buFont typeface="Arial"/>
                        <a:buNone/>
                      </a:pPr>
                      <a:r>
                        <a:rPr lang="en-IN" sz="1400" u="none" strike="noStrike" cap="none"/>
                        <a:t>Auto</a:t>
                      </a:r>
                      <a:endParaRPr sz="1400" u="none" strike="noStrike" cap="none"/>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00"/>
                        <a:buFont typeface="Arial"/>
                        <a:buNone/>
                      </a:pPr>
                      <a:r>
                        <a:rPr lang="en-IN" sz="1400" u="none" strike="noStrike" cap="none"/>
                        <a:t>Auto</a:t>
                      </a:r>
                      <a:endParaRPr sz="1400" u="none" strike="noStrike" cap="none"/>
                    </a:p>
                  </a:txBody>
                  <a:tcPr marL="91450" marR="91450" marT="45725" marB="45725" anchor="ctr"/>
                </a:tc>
                <a:extLst>
                  <a:ext uri="{0D108BD9-81ED-4DB2-BD59-A6C34878D82A}">
                    <a16:rowId xmlns:a16="http://schemas.microsoft.com/office/drawing/2014/main" val="10004"/>
                  </a:ext>
                </a:extLst>
              </a:tr>
              <a:tr h="536400">
                <a:tc>
                  <a:txBody>
                    <a:bodyPr/>
                    <a:lstStyle/>
                    <a:p>
                      <a:pPr marL="0" marR="0" lvl="0" indent="0" algn="l" rtl="0">
                        <a:lnSpc>
                          <a:spcPct val="100000"/>
                        </a:lnSpc>
                        <a:spcBef>
                          <a:spcPts val="0"/>
                        </a:spcBef>
                        <a:spcAft>
                          <a:spcPts val="0"/>
                        </a:spcAft>
                        <a:buClr>
                          <a:srgbClr val="000000"/>
                        </a:buClr>
                        <a:buSzPts val="1400"/>
                        <a:buFont typeface="Arial"/>
                        <a:buNone/>
                      </a:pPr>
                      <a:r>
                        <a:rPr lang="en-IN" sz="1400" u="none" strike="noStrike" cap="none"/>
                        <a:t>5.</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IN" sz="1400" b="1" u="none" strike="noStrike" cap="none"/>
                        <a:t>Resolution</a:t>
                      </a:r>
                      <a:endParaRPr sz="1400" u="none" strike="noStrike" cap="none"/>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00"/>
                        <a:buFont typeface="Arial"/>
                        <a:buNone/>
                      </a:pPr>
                      <a:r>
                        <a:rPr lang="en-IN" sz="1400" u="none" strike="noStrike" cap="none"/>
                        <a:t>HI-RE 1080</a:t>
                      </a:r>
                      <a:endParaRPr sz="1400" u="none" strike="noStrike" cap="none"/>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00"/>
                        <a:buFont typeface="Arial"/>
                        <a:buNone/>
                      </a:pPr>
                      <a:r>
                        <a:rPr lang="en-IN" sz="1400" u="none" strike="noStrike" cap="none"/>
                        <a:t>Low compare to ras pi camera</a:t>
                      </a:r>
                      <a:endParaRPr sz="1400" u="none" strike="noStrike" cap="none"/>
                    </a:p>
                  </a:txBody>
                  <a:tcPr marL="91450" marR="91450" marT="45725" marB="45725" anchor="ctr"/>
                </a:tc>
                <a:extLst>
                  <a:ext uri="{0D108BD9-81ED-4DB2-BD59-A6C34878D82A}">
                    <a16:rowId xmlns:a16="http://schemas.microsoft.com/office/drawing/2014/main" val="10005"/>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22"/>
          <p:cNvSpPr txBox="1">
            <a:spLocks noGrp="1"/>
          </p:cNvSpPr>
          <p:nvPr>
            <p:ph type="title"/>
          </p:nvPr>
        </p:nvSpPr>
        <p:spPr>
          <a:xfrm>
            <a:off x="0" y="18255"/>
            <a:ext cx="12192000" cy="1325563"/>
          </a:xfrm>
          <a:prstGeom prst="rect">
            <a:avLst/>
          </a:prstGeom>
          <a:solidFill>
            <a:srgbClr val="1F3864"/>
          </a:solidFill>
          <a:ln>
            <a:noFill/>
          </a:ln>
          <a:effectLst>
            <a:outerShdw blurRad="44450" dist="27940" dir="5400000" algn="ctr">
              <a:srgbClr val="000000">
                <a:alpha val="31372"/>
              </a:srgbClr>
            </a:outerShdw>
          </a:effectLst>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Times New Roman"/>
              <a:buNone/>
            </a:pPr>
            <a:r>
              <a:rPr lang="en-IN" sz="4400" b="1">
                <a:solidFill>
                  <a:schemeClr val="lt1"/>
                </a:solidFill>
                <a:latin typeface="Times New Roman"/>
                <a:ea typeface="Times New Roman"/>
                <a:cs typeface="Times New Roman"/>
                <a:sym typeface="Times New Roman"/>
              </a:rPr>
              <a:t>  </a:t>
            </a:r>
            <a:r>
              <a:rPr lang="en-IN" b="1">
                <a:solidFill>
                  <a:schemeClr val="lt1"/>
                </a:solidFill>
                <a:latin typeface="Times New Roman"/>
                <a:ea typeface="Times New Roman"/>
                <a:cs typeface="Times New Roman"/>
                <a:sym typeface="Times New Roman"/>
              </a:rPr>
              <a:t>Software Comparison</a:t>
            </a:r>
            <a:endParaRPr sz="4400" b="1">
              <a:solidFill>
                <a:schemeClr val="lt1"/>
              </a:solidFill>
              <a:latin typeface="Times New Roman"/>
              <a:ea typeface="Times New Roman"/>
              <a:cs typeface="Times New Roman"/>
              <a:sym typeface="Times New Roman"/>
            </a:endParaRPr>
          </a:p>
        </p:txBody>
      </p:sp>
      <p:sp>
        <p:nvSpPr>
          <p:cNvPr id="225" name="Google Shape;225;p22"/>
          <p:cNvSpPr txBox="1"/>
          <p:nvPr/>
        </p:nvSpPr>
        <p:spPr>
          <a:xfrm>
            <a:off x="0" y="9788"/>
            <a:ext cx="12192000" cy="1325563"/>
          </a:xfrm>
          <a:prstGeom prst="rect">
            <a:avLst/>
          </a:prstGeom>
          <a:solidFill>
            <a:srgbClr val="1F3864"/>
          </a:solidFill>
          <a:ln>
            <a:noFill/>
          </a:ln>
          <a:effectLst>
            <a:outerShdw blurRad="44450" dist="27940" dir="5400000" algn="ctr">
              <a:srgbClr val="000000">
                <a:alpha val="31372"/>
              </a:srgbClr>
            </a:outerShdw>
          </a:effectLst>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lt1"/>
              </a:buClr>
              <a:buSzPts val="4400"/>
              <a:buFont typeface="Times New Roman"/>
              <a:buNone/>
            </a:pPr>
            <a:r>
              <a:rPr lang="en-IN" sz="4400" b="1" i="0" u="none" strike="noStrike" cap="none">
                <a:solidFill>
                  <a:schemeClr val="lt1"/>
                </a:solidFill>
                <a:latin typeface="Times New Roman"/>
                <a:ea typeface="Times New Roman"/>
                <a:cs typeface="Times New Roman"/>
                <a:sym typeface="Times New Roman"/>
              </a:rPr>
              <a:t> Software Selection </a:t>
            </a:r>
            <a:endParaRPr sz="1400" b="0" i="0" u="none" strike="noStrike" cap="none">
              <a:solidFill>
                <a:srgbClr val="000000"/>
              </a:solidFill>
              <a:latin typeface="Arial"/>
              <a:ea typeface="Arial"/>
              <a:cs typeface="Arial"/>
              <a:sym typeface="Arial"/>
            </a:endParaRPr>
          </a:p>
        </p:txBody>
      </p:sp>
      <p:graphicFrame>
        <p:nvGraphicFramePr>
          <p:cNvPr id="226" name="Google Shape;226;p22"/>
          <p:cNvGraphicFramePr/>
          <p:nvPr/>
        </p:nvGraphicFramePr>
        <p:xfrm>
          <a:off x="251670" y="1593908"/>
          <a:ext cx="11635525" cy="3272050"/>
        </p:xfrm>
        <a:graphic>
          <a:graphicData uri="http://schemas.openxmlformats.org/drawingml/2006/table">
            <a:tbl>
              <a:tblPr firstRow="1" bandRow="1">
                <a:noFill/>
                <a:tableStyleId>{2BE4A156-D856-4294-9C9A-E00CE88E0922}</a:tableStyleId>
              </a:tblPr>
              <a:tblGrid>
                <a:gridCol w="2233800">
                  <a:extLst>
                    <a:ext uri="{9D8B030D-6E8A-4147-A177-3AD203B41FA5}">
                      <a16:colId xmlns:a16="http://schemas.microsoft.com/office/drawing/2014/main" val="20000"/>
                    </a:ext>
                  </a:extLst>
                </a:gridCol>
                <a:gridCol w="3271875">
                  <a:extLst>
                    <a:ext uri="{9D8B030D-6E8A-4147-A177-3AD203B41FA5}">
                      <a16:colId xmlns:a16="http://schemas.microsoft.com/office/drawing/2014/main" val="20001"/>
                    </a:ext>
                  </a:extLst>
                </a:gridCol>
                <a:gridCol w="6129850">
                  <a:extLst>
                    <a:ext uri="{9D8B030D-6E8A-4147-A177-3AD203B41FA5}">
                      <a16:colId xmlns:a16="http://schemas.microsoft.com/office/drawing/2014/main" val="20002"/>
                    </a:ext>
                  </a:extLst>
                </a:gridCol>
              </a:tblGrid>
              <a:tr h="543250">
                <a:tc>
                  <a:txBody>
                    <a:bodyPr/>
                    <a:lstStyle/>
                    <a:p>
                      <a:pPr marL="0" marR="0" lvl="0" indent="0" algn="l" rtl="0">
                        <a:lnSpc>
                          <a:spcPct val="100000"/>
                        </a:lnSpc>
                        <a:spcBef>
                          <a:spcPts val="0"/>
                        </a:spcBef>
                        <a:spcAft>
                          <a:spcPts val="0"/>
                        </a:spcAft>
                        <a:buClr>
                          <a:srgbClr val="000000"/>
                        </a:buClr>
                        <a:buSzPts val="1400"/>
                        <a:buFont typeface="Arial"/>
                        <a:buNone/>
                      </a:pPr>
                      <a:r>
                        <a:rPr lang="en-IN" sz="1400" b="1" u="none" strike="noStrike" cap="none">
                          <a:latin typeface="Times New Roman"/>
                          <a:ea typeface="Times New Roman"/>
                          <a:cs typeface="Times New Roman"/>
                          <a:sym typeface="Times New Roman"/>
                        </a:rPr>
                        <a:t>Category</a:t>
                      </a:r>
                      <a:endParaRPr sz="14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IN" sz="1400" u="none" strike="noStrike" cap="none">
                          <a:latin typeface="Times New Roman"/>
                          <a:ea typeface="Times New Roman"/>
                          <a:cs typeface="Times New Roman"/>
                          <a:sym typeface="Times New Roman"/>
                        </a:rPr>
                        <a:t>Best Option</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IN" sz="1400" u="none" strike="noStrike" cap="none">
                          <a:latin typeface="Times New Roman"/>
                          <a:ea typeface="Times New Roman"/>
                          <a:cs typeface="Times New Roman"/>
                          <a:sym typeface="Times New Roman"/>
                        </a:rPr>
                        <a:t>Reason</a:t>
                      </a:r>
                      <a:endParaRPr sz="1400" u="none" strike="noStrike" cap="none"/>
                    </a:p>
                  </a:txBody>
                  <a:tcPr marL="91450" marR="91450" marT="45725" marB="45725"/>
                </a:tc>
                <a:extLst>
                  <a:ext uri="{0D108BD9-81ED-4DB2-BD59-A6C34878D82A}">
                    <a16:rowId xmlns:a16="http://schemas.microsoft.com/office/drawing/2014/main" val="10000"/>
                  </a:ext>
                </a:extLst>
              </a:tr>
              <a:tr h="543250">
                <a:tc>
                  <a:txBody>
                    <a:bodyPr/>
                    <a:lstStyle/>
                    <a:p>
                      <a:pPr marL="0" marR="0" lvl="0" indent="0" algn="l" rtl="0">
                        <a:lnSpc>
                          <a:spcPct val="100000"/>
                        </a:lnSpc>
                        <a:spcBef>
                          <a:spcPts val="0"/>
                        </a:spcBef>
                        <a:spcAft>
                          <a:spcPts val="0"/>
                        </a:spcAft>
                        <a:buClr>
                          <a:srgbClr val="000000"/>
                        </a:buClr>
                        <a:buSzPts val="1400"/>
                        <a:buFont typeface="Arial"/>
                        <a:buNone/>
                      </a:pPr>
                      <a:r>
                        <a:rPr lang="en-IN" sz="1400" b="1" u="none" strike="noStrike" cap="none">
                          <a:latin typeface="Times New Roman"/>
                          <a:ea typeface="Times New Roman"/>
                          <a:cs typeface="Times New Roman"/>
                          <a:sym typeface="Times New Roman"/>
                        </a:rPr>
                        <a:t>OCR Accuracy</a:t>
                      </a:r>
                      <a:endParaRPr sz="14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IN" sz="1400" u="none" strike="noStrike" cap="none">
                          <a:latin typeface="Times New Roman"/>
                          <a:ea typeface="Times New Roman"/>
                          <a:cs typeface="Times New Roman"/>
                          <a:sym typeface="Times New Roman"/>
                        </a:rPr>
                        <a:t>Regional Language Reader</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IN" sz="1400" u="none" strike="noStrike" cap="none">
                          <a:latin typeface="Times New Roman"/>
                          <a:ea typeface="Times New Roman"/>
                          <a:cs typeface="Times New Roman"/>
                          <a:sym typeface="Times New Roman"/>
                        </a:rPr>
                        <a:t>Uses better image preprocessing and supports handwriting</a:t>
                      </a:r>
                      <a:endParaRPr sz="1400" u="none" strike="noStrike" cap="none"/>
                    </a:p>
                  </a:txBody>
                  <a:tcPr marL="91450" marR="91450" marT="45725" marB="45725"/>
                </a:tc>
                <a:extLst>
                  <a:ext uri="{0D108BD9-81ED-4DB2-BD59-A6C34878D82A}">
                    <a16:rowId xmlns:a16="http://schemas.microsoft.com/office/drawing/2014/main" val="10001"/>
                  </a:ext>
                </a:extLst>
              </a:tr>
              <a:tr h="543250">
                <a:tc>
                  <a:txBody>
                    <a:bodyPr/>
                    <a:lstStyle/>
                    <a:p>
                      <a:pPr marL="0" marR="0" lvl="0" indent="0" algn="l" rtl="0">
                        <a:lnSpc>
                          <a:spcPct val="100000"/>
                        </a:lnSpc>
                        <a:spcBef>
                          <a:spcPts val="0"/>
                        </a:spcBef>
                        <a:spcAft>
                          <a:spcPts val="0"/>
                        </a:spcAft>
                        <a:buClr>
                          <a:srgbClr val="000000"/>
                        </a:buClr>
                        <a:buSzPts val="1400"/>
                        <a:buFont typeface="Arial"/>
                        <a:buNone/>
                      </a:pPr>
                      <a:r>
                        <a:rPr lang="en-IN" sz="1400" b="1" u="none" strike="noStrike" cap="none">
                          <a:latin typeface="Times New Roman"/>
                          <a:ea typeface="Times New Roman"/>
                          <a:cs typeface="Times New Roman"/>
                          <a:sym typeface="Times New Roman"/>
                        </a:rPr>
                        <a:t>Offline Operation</a:t>
                      </a:r>
                      <a:endParaRPr sz="14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IN" sz="1400" u="none" strike="noStrike" cap="none">
                          <a:latin typeface="Times New Roman"/>
                          <a:ea typeface="Times New Roman"/>
                          <a:cs typeface="Times New Roman"/>
                          <a:sym typeface="Times New Roman"/>
                        </a:rPr>
                        <a:t>Regional Language Reader</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00"/>
                        <a:buFont typeface="Arial"/>
                        <a:buNone/>
                      </a:pPr>
                      <a:r>
                        <a:rPr lang="en-IN" sz="1400" u="none" strike="noStrike" cap="none">
                          <a:latin typeface="Times New Roman"/>
                          <a:ea typeface="Times New Roman"/>
                          <a:cs typeface="Times New Roman"/>
                          <a:sym typeface="Times New Roman"/>
                        </a:rPr>
                        <a:t>pyttsx3 does not require Internet</a:t>
                      </a:r>
                      <a:endParaRPr sz="1400" u="none" strike="noStrike" cap="none"/>
                    </a:p>
                  </a:txBody>
                  <a:tcPr marL="91450" marR="91450" marT="45725" marB="45725"/>
                </a:tc>
                <a:extLst>
                  <a:ext uri="{0D108BD9-81ED-4DB2-BD59-A6C34878D82A}">
                    <a16:rowId xmlns:a16="http://schemas.microsoft.com/office/drawing/2014/main" val="10002"/>
                  </a:ext>
                </a:extLst>
              </a:tr>
              <a:tr h="543250">
                <a:tc>
                  <a:txBody>
                    <a:bodyPr/>
                    <a:lstStyle/>
                    <a:p>
                      <a:pPr marL="0" marR="0" lvl="0" indent="0" algn="l" rtl="0">
                        <a:lnSpc>
                          <a:spcPct val="100000"/>
                        </a:lnSpc>
                        <a:spcBef>
                          <a:spcPts val="0"/>
                        </a:spcBef>
                        <a:spcAft>
                          <a:spcPts val="0"/>
                        </a:spcAft>
                        <a:buClr>
                          <a:srgbClr val="000000"/>
                        </a:buClr>
                        <a:buSzPts val="1400"/>
                        <a:buFont typeface="Arial"/>
                        <a:buNone/>
                      </a:pPr>
                      <a:r>
                        <a:rPr lang="en-IN" sz="1400" b="1" u="none" strike="noStrike" cap="none">
                          <a:latin typeface="Times New Roman"/>
                          <a:ea typeface="Times New Roman"/>
                          <a:cs typeface="Times New Roman"/>
                          <a:sym typeface="Times New Roman"/>
                        </a:rPr>
                        <a:t>Speech Quality</a:t>
                      </a:r>
                      <a:endParaRPr sz="14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00"/>
                        <a:buFont typeface="Arial"/>
                        <a:buNone/>
                      </a:pPr>
                      <a:r>
                        <a:rPr lang="en-IN" sz="1400" u="none" strike="noStrike" cap="none">
                          <a:latin typeface="Times New Roman"/>
                          <a:ea typeface="Times New Roman"/>
                          <a:cs typeface="Times New Roman"/>
                          <a:sym typeface="Times New Roman"/>
                        </a:rPr>
                        <a:t>Stable-TTS</a:t>
                      </a:r>
                      <a:endParaRPr sz="1400" u="none" strike="noStrike" cap="none"/>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00"/>
                        <a:buFont typeface="Arial"/>
                        <a:buNone/>
                      </a:pPr>
                      <a:r>
                        <a:rPr lang="en-IN" sz="1400" u="none" strike="noStrike" cap="none">
                          <a:latin typeface="Times New Roman"/>
                          <a:ea typeface="Times New Roman"/>
                          <a:cs typeface="Times New Roman"/>
                          <a:sym typeface="Times New Roman"/>
                        </a:rPr>
                        <a:t>Neural model gives human-like speech clarity</a:t>
                      </a:r>
                      <a:endParaRPr sz="1400" u="none" strike="noStrike" cap="none"/>
                    </a:p>
                  </a:txBody>
                  <a:tcPr marL="91450" marR="91450" marT="45725" marB="45725" anchor="ctr"/>
                </a:tc>
                <a:extLst>
                  <a:ext uri="{0D108BD9-81ED-4DB2-BD59-A6C34878D82A}">
                    <a16:rowId xmlns:a16="http://schemas.microsoft.com/office/drawing/2014/main" val="10003"/>
                  </a:ext>
                </a:extLst>
              </a:tr>
              <a:tr h="543250">
                <a:tc>
                  <a:txBody>
                    <a:bodyPr/>
                    <a:lstStyle/>
                    <a:p>
                      <a:pPr marL="0" marR="0" lvl="0" indent="0" algn="l" rtl="0">
                        <a:lnSpc>
                          <a:spcPct val="100000"/>
                        </a:lnSpc>
                        <a:spcBef>
                          <a:spcPts val="0"/>
                        </a:spcBef>
                        <a:spcAft>
                          <a:spcPts val="0"/>
                        </a:spcAft>
                        <a:buClr>
                          <a:srgbClr val="000000"/>
                        </a:buClr>
                        <a:buSzPts val="1400"/>
                        <a:buFont typeface="Arial"/>
                        <a:buNone/>
                      </a:pPr>
                      <a:r>
                        <a:rPr lang="en-IN" sz="1400" b="1" u="none" strike="noStrike" cap="none">
                          <a:latin typeface="Times New Roman"/>
                          <a:ea typeface="Times New Roman"/>
                          <a:cs typeface="Times New Roman"/>
                          <a:sym typeface="Times New Roman"/>
                        </a:rPr>
                        <a:t>Lightweight Deployment</a:t>
                      </a:r>
                      <a:endParaRPr sz="14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00"/>
                        <a:buFont typeface="Arial"/>
                        <a:buNone/>
                      </a:pPr>
                      <a:r>
                        <a:rPr lang="en-IN" sz="1400" u="none" strike="noStrike" cap="none">
                          <a:latin typeface="Times New Roman"/>
                          <a:ea typeface="Times New Roman"/>
                          <a:cs typeface="Times New Roman"/>
                          <a:sym typeface="Times New Roman"/>
                        </a:rPr>
                        <a:t>Vision Voice</a:t>
                      </a:r>
                      <a:endParaRPr sz="1400" u="none" strike="noStrike" cap="none"/>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00"/>
                        <a:buFont typeface="Arial"/>
                        <a:buNone/>
                      </a:pPr>
                      <a:r>
                        <a:rPr lang="en-IN" sz="1400" u="none" strike="noStrike" cap="none">
                          <a:latin typeface="Times New Roman"/>
                          <a:ea typeface="Times New Roman"/>
                          <a:cs typeface="Times New Roman"/>
                          <a:sym typeface="Times New Roman"/>
                        </a:rPr>
                        <a:t>Simpler and faster on low-power devices</a:t>
                      </a:r>
                      <a:endParaRPr sz="1400" u="none" strike="noStrike" cap="none"/>
                    </a:p>
                  </a:txBody>
                  <a:tcPr marL="91450" marR="91450" marT="45725" marB="45725" anchor="ctr"/>
                </a:tc>
                <a:extLst>
                  <a:ext uri="{0D108BD9-81ED-4DB2-BD59-A6C34878D82A}">
                    <a16:rowId xmlns:a16="http://schemas.microsoft.com/office/drawing/2014/main" val="10004"/>
                  </a:ext>
                </a:extLst>
              </a:tr>
              <a:tr h="555800">
                <a:tc>
                  <a:txBody>
                    <a:bodyPr/>
                    <a:lstStyle/>
                    <a:p>
                      <a:pPr marL="0" marR="0" lvl="0" indent="0" algn="l" rtl="0">
                        <a:lnSpc>
                          <a:spcPct val="100000"/>
                        </a:lnSpc>
                        <a:spcBef>
                          <a:spcPts val="0"/>
                        </a:spcBef>
                        <a:spcAft>
                          <a:spcPts val="0"/>
                        </a:spcAft>
                        <a:buClr>
                          <a:srgbClr val="000000"/>
                        </a:buClr>
                        <a:buSzPts val="1400"/>
                        <a:buFont typeface="Arial"/>
                        <a:buNone/>
                      </a:pPr>
                      <a:r>
                        <a:rPr lang="en-IN" sz="1400" b="1" u="none" strike="noStrike" cap="none">
                          <a:latin typeface="Times New Roman"/>
                          <a:ea typeface="Times New Roman"/>
                          <a:cs typeface="Times New Roman"/>
                          <a:sym typeface="Times New Roman"/>
                        </a:rPr>
                        <a:t>Multilingual Potential</a:t>
                      </a:r>
                      <a:endParaRPr sz="14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00"/>
                        <a:buFont typeface="Arial"/>
                        <a:buNone/>
                      </a:pPr>
                      <a:r>
                        <a:rPr lang="en-IN" sz="1400" u="none" strike="noStrike" cap="none">
                          <a:latin typeface="Times New Roman"/>
                          <a:ea typeface="Times New Roman"/>
                          <a:cs typeface="Times New Roman"/>
                          <a:sym typeface="Times New Roman"/>
                        </a:rPr>
                        <a:t>Regional Language Reader + Stable-TTS Hybrid</a:t>
                      </a:r>
                      <a:endParaRPr sz="1400" u="none" strike="noStrike" cap="none"/>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00"/>
                        <a:buFont typeface="Arial"/>
                        <a:buNone/>
                      </a:pPr>
                      <a:r>
                        <a:rPr lang="en-IN" sz="1400" u="none" strike="noStrike" cap="none">
                          <a:latin typeface="Times New Roman"/>
                          <a:ea typeface="Times New Roman"/>
                          <a:cs typeface="Times New Roman"/>
                          <a:sym typeface="Times New Roman"/>
                        </a:rPr>
                        <a:t>Combine multilingual OCR + advanced TTS</a:t>
                      </a:r>
                      <a:endParaRPr sz="1400" u="none" strike="noStrike" cap="none"/>
                    </a:p>
                  </a:txBody>
                  <a:tcPr marL="91450" marR="91450" marT="45725" marB="45725" anchor="ctr"/>
                </a:tc>
                <a:extLst>
                  <a:ext uri="{0D108BD9-81ED-4DB2-BD59-A6C34878D82A}">
                    <a16:rowId xmlns:a16="http://schemas.microsoft.com/office/drawing/2014/main" val="10005"/>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23"/>
          <p:cNvSpPr txBox="1">
            <a:spLocks noGrp="1"/>
          </p:cNvSpPr>
          <p:nvPr>
            <p:ph type="title"/>
          </p:nvPr>
        </p:nvSpPr>
        <p:spPr>
          <a:xfrm>
            <a:off x="0" y="18255"/>
            <a:ext cx="12192000" cy="1325700"/>
          </a:xfrm>
          <a:prstGeom prst="rect">
            <a:avLst/>
          </a:prstGeom>
          <a:solidFill>
            <a:srgbClr val="1F3864"/>
          </a:solidFill>
          <a:ln>
            <a:noFill/>
          </a:ln>
          <a:effectLst>
            <a:outerShdw blurRad="44450" dist="27940" dir="5400000" algn="ctr">
              <a:srgbClr val="000000">
                <a:alpha val="31372"/>
              </a:srgbClr>
            </a:outerShdw>
          </a:effectLst>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Times New Roman"/>
              <a:buNone/>
            </a:pPr>
            <a:r>
              <a:rPr lang="en-IN" sz="4400" b="1">
                <a:solidFill>
                  <a:schemeClr val="lt1"/>
                </a:solidFill>
                <a:latin typeface="Times New Roman"/>
                <a:ea typeface="Times New Roman"/>
                <a:cs typeface="Times New Roman"/>
                <a:sym typeface="Times New Roman"/>
              </a:rPr>
              <a:t>  </a:t>
            </a:r>
            <a:r>
              <a:rPr lang="en-IN" b="1">
                <a:solidFill>
                  <a:schemeClr val="lt1"/>
                </a:solidFill>
                <a:latin typeface="Times New Roman"/>
                <a:ea typeface="Times New Roman"/>
                <a:cs typeface="Times New Roman"/>
                <a:sym typeface="Times New Roman"/>
              </a:rPr>
              <a:t>Software Comparison</a:t>
            </a:r>
            <a:endParaRPr sz="4400" b="1">
              <a:solidFill>
                <a:schemeClr val="lt1"/>
              </a:solidFill>
              <a:latin typeface="Times New Roman"/>
              <a:ea typeface="Times New Roman"/>
              <a:cs typeface="Times New Roman"/>
              <a:sym typeface="Times New Roman"/>
            </a:endParaRPr>
          </a:p>
        </p:txBody>
      </p:sp>
      <p:sp>
        <p:nvSpPr>
          <p:cNvPr id="232" name="Google Shape;232;p23"/>
          <p:cNvSpPr txBox="1"/>
          <p:nvPr/>
        </p:nvSpPr>
        <p:spPr>
          <a:xfrm>
            <a:off x="0" y="9788"/>
            <a:ext cx="12192000" cy="1325700"/>
          </a:xfrm>
          <a:prstGeom prst="rect">
            <a:avLst/>
          </a:prstGeom>
          <a:solidFill>
            <a:srgbClr val="1F3864"/>
          </a:solidFill>
          <a:ln>
            <a:noFill/>
          </a:ln>
          <a:effectLst>
            <a:outerShdw blurRad="44450" dist="27940" dir="5400000" algn="ctr">
              <a:srgbClr val="000000">
                <a:alpha val="31372"/>
              </a:srgbClr>
            </a:outerShdw>
          </a:effectLst>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lt1"/>
              </a:buClr>
              <a:buSzPts val="4400"/>
              <a:buFont typeface="Times New Roman"/>
              <a:buNone/>
            </a:pPr>
            <a:r>
              <a:rPr lang="en-IN" sz="4400" b="1" i="0" u="none" strike="noStrike" cap="none">
                <a:solidFill>
                  <a:schemeClr val="lt1"/>
                </a:solidFill>
                <a:latin typeface="Times New Roman"/>
                <a:ea typeface="Times New Roman"/>
                <a:cs typeface="Times New Roman"/>
                <a:sym typeface="Times New Roman"/>
              </a:rPr>
              <a:t> Sustainable Development Goals (SDGs)</a:t>
            </a:r>
            <a:endParaRPr sz="1400" b="0" i="0" u="none" strike="noStrike" cap="none">
              <a:solidFill>
                <a:srgbClr val="000000"/>
              </a:solidFill>
              <a:latin typeface="Arial"/>
              <a:ea typeface="Arial"/>
              <a:cs typeface="Arial"/>
              <a:sym typeface="Arial"/>
            </a:endParaRPr>
          </a:p>
        </p:txBody>
      </p:sp>
      <p:sp>
        <p:nvSpPr>
          <p:cNvPr id="233" name="Google Shape;233;p23"/>
          <p:cNvSpPr txBox="1"/>
          <p:nvPr/>
        </p:nvSpPr>
        <p:spPr>
          <a:xfrm>
            <a:off x="1114425" y="1817375"/>
            <a:ext cx="10035600" cy="4186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IN" sz="2000" b="0" i="0" u="none" strike="noStrike" cap="none">
                <a:solidFill>
                  <a:srgbClr val="000000"/>
                </a:solidFill>
                <a:latin typeface="Times New Roman"/>
                <a:ea typeface="Times New Roman"/>
                <a:cs typeface="Times New Roman"/>
                <a:sym typeface="Times New Roman"/>
              </a:rPr>
              <a:t>The project aligns with the following United Nations Sustainable Development Goals: </a:t>
            </a:r>
            <a:endParaRPr sz="20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2000"/>
              <a:buFont typeface="Arial"/>
              <a:buNone/>
            </a:pPr>
            <a:r>
              <a:rPr lang="en-IN" sz="2000" b="0" i="0" u="none" strike="noStrike" cap="none">
                <a:solidFill>
                  <a:srgbClr val="000000"/>
                </a:solidFill>
                <a:latin typeface="Times New Roman"/>
                <a:ea typeface="Times New Roman"/>
                <a:cs typeface="Times New Roman"/>
                <a:sym typeface="Times New Roman"/>
              </a:rPr>
              <a:t>SDG 4– Quality Education : </a:t>
            </a:r>
            <a:endParaRPr sz="20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2000"/>
              <a:buFont typeface="Arial"/>
              <a:buNone/>
            </a:pPr>
            <a:r>
              <a:rPr lang="en-IN" sz="2000" b="0" i="0" u="none" strike="noStrike" cap="none">
                <a:solidFill>
                  <a:srgbClr val="000000"/>
                </a:solidFill>
                <a:latin typeface="Times New Roman"/>
                <a:ea typeface="Times New Roman"/>
                <a:cs typeface="Times New Roman"/>
                <a:sym typeface="Times New Roman"/>
              </a:rPr>
              <a:t>The system helps blind and visually impaired people read books, study materials, and documents independently, improving access to education. </a:t>
            </a:r>
            <a:endParaRPr sz="20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2000"/>
              <a:buFont typeface="Arial"/>
              <a:buNone/>
            </a:pPr>
            <a:r>
              <a:rPr lang="en-IN" sz="2000" b="0" i="0" u="none" strike="noStrike" cap="none">
                <a:solidFill>
                  <a:srgbClr val="000000"/>
                </a:solidFill>
                <a:latin typeface="Times New Roman"/>
                <a:ea typeface="Times New Roman"/>
                <a:cs typeface="Times New Roman"/>
                <a:sym typeface="Times New Roman"/>
              </a:rPr>
              <a:t>SDG 9– Industry, Innovation and Infrastructure : </a:t>
            </a:r>
            <a:endParaRPr sz="20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2000"/>
              <a:buFont typeface="Arial"/>
              <a:buNone/>
            </a:pPr>
            <a:r>
              <a:rPr lang="en-IN" sz="2000" b="0" i="0" u="none" strike="noStrike" cap="none">
                <a:solidFill>
                  <a:srgbClr val="000000"/>
                </a:solidFill>
                <a:latin typeface="Times New Roman"/>
                <a:ea typeface="Times New Roman"/>
                <a:cs typeface="Times New Roman"/>
                <a:sym typeface="Times New Roman"/>
              </a:rPr>
              <a:t>The project uses modern technology such as OCR and Text-to-Speech, promoting innovation in assistive technologies. </a:t>
            </a:r>
            <a:endParaRPr sz="20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2000"/>
              <a:buFont typeface="Arial"/>
              <a:buNone/>
            </a:pPr>
            <a:r>
              <a:rPr lang="en-IN" sz="2000" b="0" i="0" u="none" strike="noStrike" cap="none">
                <a:solidFill>
                  <a:srgbClr val="000000"/>
                </a:solidFill>
                <a:latin typeface="Times New Roman"/>
                <a:ea typeface="Times New Roman"/>
                <a:cs typeface="Times New Roman"/>
                <a:sym typeface="Times New Roman"/>
              </a:rPr>
              <a:t>SDG 10– Reduced Inequalities : </a:t>
            </a:r>
            <a:endParaRPr sz="20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2000"/>
              <a:buFont typeface="Arial"/>
              <a:buNone/>
            </a:pPr>
            <a:r>
              <a:rPr lang="en-IN" sz="2000" b="0" i="0" u="none" strike="noStrike" cap="none">
                <a:solidFill>
                  <a:srgbClr val="000000"/>
                </a:solidFill>
                <a:latin typeface="Times New Roman"/>
                <a:ea typeface="Times New Roman"/>
                <a:cs typeface="Times New Roman"/>
                <a:sym typeface="Times New Roman"/>
              </a:rPr>
              <a:t>SDG 10 aims to reduce inequality within and between countries. It promotes equal opportunities, inclusion, and support for disadvantaged groups.</a:t>
            </a:r>
            <a:endParaRPr sz="200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24"/>
          <p:cNvSpPr txBox="1">
            <a:spLocks noGrp="1"/>
          </p:cNvSpPr>
          <p:nvPr>
            <p:ph type="body" idx="1"/>
          </p:nvPr>
        </p:nvSpPr>
        <p:spPr>
          <a:xfrm>
            <a:off x="700177" y="1865492"/>
            <a:ext cx="10515600" cy="4840108"/>
          </a:xfrm>
          <a:prstGeom prst="rect">
            <a:avLst/>
          </a:prstGeom>
          <a:noFill/>
          <a:ln>
            <a:noFill/>
          </a:ln>
        </p:spPr>
        <p:txBody>
          <a:bodyPr spcFirstLastPara="1" wrap="square" lIns="91425" tIns="45700" rIns="91425" bIns="45700" anchor="t" anchorCtr="0">
            <a:normAutofit fontScale="92500" lnSpcReduction="20000"/>
          </a:bodyPr>
          <a:lstStyle/>
          <a:p>
            <a:pPr marL="228600" lvl="0" indent="-228600" algn="l" rtl="0">
              <a:lnSpc>
                <a:spcPct val="90000"/>
              </a:lnSpc>
              <a:spcBef>
                <a:spcPts val="0"/>
              </a:spcBef>
              <a:spcAft>
                <a:spcPts val="0"/>
              </a:spcAft>
              <a:buClr>
                <a:schemeClr val="dk1"/>
              </a:buClr>
              <a:buSzPct val="100000"/>
              <a:buChar char="•"/>
            </a:pPr>
            <a:r>
              <a:rPr lang="en-IN" sz="2600" b="1">
                <a:latin typeface="Times New Roman"/>
                <a:ea typeface="Times New Roman"/>
                <a:cs typeface="Times New Roman"/>
                <a:sym typeface="Times New Roman"/>
              </a:rPr>
              <a:t>Semester 5th – Basic Setup</a:t>
            </a:r>
            <a:endParaRPr sz="3500"/>
          </a:p>
          <a:p>
            <a:pPr marL="457200" lvl="0" indent="-457200" algn="l" rtl="0">
              <a:lnSpc>
                <a:spcPct val="90000"/>
              </a:lnSpc>
              <a:spcBef>
                <a:spcPts val="1000"/>
              </a:spcBef>
              <a:spcAft>
                <a:spcPts val="0"/>
              </a:spcAft>
              <a:buClr>
                <a:schemeClr val="dk1"/>
              </a:buClr>
              <a:buSzPct val="100000"/>
              <a:buFont typeface="Calibri"/>
              <a:buAutoNum type="arabicPeriod"/>
            </a:pPr>
            <a:r>
              <a:rPr lang="en-IN" sz="2200">
                <a:latin typeface="Times New Roman"/>
                <a:ea typeface="Times New Roman"/>
                <a:cs typeface="Times New Roman"/>
                <a:sym typeface="Times New Roman"/>
              </a:rPr>
              <a:t>Study problem statement (Assistive system for blind users).</a:t>
            </a:r>
            <a:endParaRPr sz="2200">
              <a:latin typeface="Times New Roman"/>
              <a:ea typeface="Times New Roman"/>
              <a:cs typeface="Times New Roman"/>
              <a:sym typeface="Times New Roman"/>
            </a:endParaRPr>
          </a:p>
          <a:p>
            <a:pPr marL="457200" lvl="0" indent="-457200" algn="l" rtl="0">
              <a:lnSpc>
                <a:spcPct val="90000"/>
              </a:lnSpc>
              <a:spcBef>
                <a:spcPts val="1000"/>
              </a:spcBef>
              <a:spcAft>
                <a:spcPts val="0"/>
              </a:spcAft>
              <a:buClr>
                <a:schemeClr val="dk1"/>
              </a:buClr>
              <a:buSzPct val="100000"/>
              <a:buFont typeface="Calibri"/>
              <a:buAutoNum type="arabicPeriod"/>
            </a:pPr>
            <a:r>
              <a:rPr lang="en-IN" sz="2200">
                <a:latin typeface="Times New Roman"/>
                <a:ea typeface="Times New Roman"/>
                <a:cs typeface="Times New Roman"/>
                <a:sym typeface="Times New Roman"/>
              </a:rPr>
              <a:t>Literature Survey (existing OCR, Translation, TTS)</a:t>
            </a:r>
            <a:endParaRPr sz="3000"/>
          </a:p>
          <a:p>
            <a:pPr marL="457200" lvl="0" indent="-457200" algn="l" rtl="0">
              <a:lnSpc>
                <a:spcPct val="90000"/>
              </a:lnSpc>
              <a:spcBef>
                <a:spcPts val="1000"/>
              </a:spcBef>
              <a:spcAft>
                <a:spcPts val="0"/>
              </a:spcAft>
              <a:buClr>
                <a:schemeClr val="dk1"/>
              </a:buClr>
              <a:buSzPct val="100000"/>
              <a:buFont typeface="Calibri"/>
              <a:buAutoNum type="arabicPeriod"/>
            </a:pPr>
            <a:r>
              <a:rPr lang="en-IN" sz="2200">
                <a:latin typeface="Times New Roman"/>
                <a:ea typeface="Times New Roman"/>
                <a:cs typeface="Times New Roman"/>
                <a:sym typeface="Times New Roman"/>
              </a:rPr>
              <a:t>Identify project requirements (hardware + software)</a:t>
            </a:r>
            <a:endParaRPr sz="3000"/>
          </a:p>
          <a:p>
            <a:pPr marL="457200" lvl="0" indent="-457200" algn="l" rtl="0">
              <a:lnSpc>
                <a:spcPct val="90000"/>
              </a:lnSpc>
              <a:spcBef>
                <a:spcPts val="1000"/>
              </a:spcBef>
              <a:spcAft>
                <a:spcPts val="0"/>
              </a:spcAft>
              <a:buClr>
                <a:schemeClr val="dk1"/>
              </a:buClr>
              <a:buSzPct val="100000"/>
              <a:buFont typeface="Calibri"/>
              <a:buAutoNum type="arabicPeriod"/>
            </a:pPr>
            <a:r>
              <a:rPr lang="en-IN" sz="2200">
                <a:latin typeface="Times New Roman"/>
                <a:ea typeface="Times New Roman"/>
                <a:cs typeface="Times New Roman"/>
                <a:sym typeface="Times New Roman"/>
              </a:rPr>
              <a:t>Install tools: Python, OCR libraries, Hugging Face models, pyttsx3.</a:t>
            </a:r>
            <a:endParaRPr sz="3000"/>
          </a:p>
          <a:p>
            <a:pPr marL="457200" lvl="0" indent="-457200" algn="l" rtl="0">
              <a:lnSpc>
                <a:spcPct val="90000"/>
              </a:lnSpc>
              <a:spcBef>
                <a:spcPts val="1000"/>
              </a:spcBef>
              <a:spcAft>
                <a:spcPts val="0"/>
              </a:spcAft>
              <a:buClr>
                <a:schemeClr val="dk1"/>
              </a:buClr>
              <a:buSzPct val="100000"/>
              <a:buFont typeface="Calibri"/>
              <a:buAutoNum type="arabicPeriod"/>
            </a:pPr>
            <a:r>
              <a:rPr lang="en-IN" sz="2200">
                <a:latin typeface="Times New Roman"/>
                <a:ea typeface="Times New Roman"/>
                <a:cs typeface="Times New Roman"/>
                <a:sym typeface="Times New Roman"/>
              </a:rPr>
              <a:t>Basic testing of OCR + TTS modules on laptop</a:t>
            </a:r>
            <a:endParaRPr/>
          </a:p>
          <a:p>
            <a:pPr marL="457200" lvl="0" indent="-292735" algn="l" rtl="0">
              <a:lnSpc>
                <a:spcPct val="90000"/>
              </a:lnSpc>
              <a:spcBef>
                <a:spcPts val="1000"/>
              </a:spcBef>
              <a:spcAft>
                <a:spcPts val="0"/>
              </a:spcAft>
              <a:buClr>
                <a:schemeClr val="dk1"/>
              </a:buClr>
              <a:buSzPct val="100000"/>
              <a:buFont typeface="Calibri"/>
              <a:buNone/>
            </a:pPr>
            <a:endParaRPr/>
          </a:p>
          <a:p>
            <a:pPr marL="228600" lvl="0" indent="-228600" algn="l" rtl="0">
              <a:lnSpc>
                <a:spcPct val="90000"/>
              </a:lnSpc>
              <a:spcBef>
                <a:spcPts val="1000"/>
              </a:spcBef>
              <a:spcAft>
                <a:spcPts val="0"/>
              </a:spcAft>
              <a:buClr>
                <a:schemeClr val="dk1"/>
              </a:buClr>
              <a:buSzPct val="100000"/>
              <a:buChar char="•"/>
            </a:pPr>
            <a:r>
              <a:rPr lang="en-IN" sz="2600" b="1">
                <a:latin typeface="Times New Roman"/>
                <a:ea typeface="Times New Roman"/>
                <a:cs typeface="Times New Roman"/>
                <a:sym typeface="Times New Roman"/>
              </a:rPr>
              <a:t>Semester 6th – Advanced Features</a:t>
            </a:r>
            <a:endParaRPr sz="3500"/>
          </a:p>
          <a:p>
            <a:pPr marL="457200" lvl="0" indent="-457200" algn="l" rtl="0">
              <a:lnSpc>
                <a:spcPct val="90000"/>
              </a:lnSpc>
              <a:spcBef>
                <a:spcPts val="1000"/>
              </a:spcBef>
              <a:spcAft>
                <a:spcPts val="0"/>
              </a:spcAft>
              <a:buClr>
                <a:schemeClr val="dk1"/>
              </a:buClr>
              <a:buSzPct val="100000"/>
              <a:buFont typeface="Calibri"/>
              <a:buAutoNum type="arabicPeriod"/>
            </a:pPr>
            <a:r>
              <a:rPr lang="en-IN" sz="2200">
                <a:latin typeface="Times New Roman"/>
                <a:ea typeface="Times New Roman"/>
                <a:cs typeface="Times New Roman"/>
                <a:sym typeface="Times New Roman"/>
              </a:rPr>
              <a:t>Build an OCR + translation module using EasyOCR/Tesseract and Helsinki-NLP models.</a:t>
            </a:r>
            <a:endParaRPr sz="3000"/>
          </a:p>
          <a:p>
            <a:pPr marL="457200" lvl="0" indent="-457200" algn="l" rtl="0">
              <a:lnSpc>
                <a:spcPct val="90000"/>
              </a:lnSpc>
              <a:spcBef>
                <a:spcPts val="1000"/>
              </a:spcBef>
              <a:spcAft>
                <a:spcPts val="0"/>
              </a:spcAft>
              <a:buClr>
                <a:schemeClr val="dk1"/>
              </a:buClr>
              <a:buSzPct val="100000"/>
              <a:buFont typeface="Calibri"/>
              <a:buAutoNum type="arabicPeriod"/>
            </a:pPr>
            <a:r>
              <a:rPr lang="en-IN" sz="2200">
                <a:latin typeface="Times New Roman"/>
                <a:ea typeface="Times New Roman"/>
                <a:cs typeface="Times New Roman"/>
                <a:sym typeface="Times New Roman"/>
              </a:rPr>
              <a:t>Add Offline Text-to-Speech (pyttsx3 / Coqui TTS).</a:t>
            </a:r>
            <a:endParaRPr sz="3000"/>
          </a:p>
          <a:p>
            <a:pPr marL="457200" lvl="0" indent="-457200" algn="l" rtl="0">
              <a:lnSpc>
                <a:spcPct val="90000"/>
              </a:lnSpc>
              <a:spcBef>
                <a:spcPts val="1000"/>
              </a:spcBef>
              <a:spcAft>
                <a:spcPts val="0"/>
              </a:spcAft>
              <a:buClr>
                <a:schemeClr val="dk1"/>
              </a:buClr>
              <a:buSzPct val="100000"/>
              <a:buFont typeface="Calibri"/>
              <a:buAutoNum type="arabicPeriod"/>
            </a:pPr>
            <a:r>
              <a:rPr lang="en-IN" sz="2200">
                <a:latin typeface="Times New Roman"/>
                <a:ea typeface="Times New Roman"/>
                <a:cs typeface="Times New Roman"/>
                <a:sym typeface="Times New Roman"/>
              </a:rPr>
              <a:t>Basic integration: Camera → OCR → TTS → Audio.</a:t>
            </a:r>
            <a:endParaRPr sz="3000"/>
          </a:p>
          <a:p>
            <a:pPr marL="457200" lvl="0" indent="-457200" algn="l" rtl="0">
              <a:lnSpc>
                <a:spcPct val="90000"/>
              </a:lnSpc>
              <a:spcBef>
                <a:spcPts val="1000"/>
              </a:spcBef>
              <a:spcAft>
                <a:spcPts val="0"/>
              </a:spcAft>
              <a:buClr>
                <a:schemeClr val="dk1"/>
              </a:buClr>
              <a:buSzPct val="100000"/>
              <a:buFont typeface="Calibri"/>
              <a:buAutoNum type="arabicPeriod"/>
            </a:pPr>
            <a:r>
              <a:rPr lang="en-IN" sz="2200">
                <a:latin typeface="Times New Roman"/>
                <a:ea typeface="Times New Roman"/>
                <a:cs typeface="Times New Roman"/>
                <a:sym typeface="Times New Roman"/>
              </a:rPr>
              <a:t>Test with single language (e.g., English → Marathi).</a:t>
            </a:r>
            <a:endParaRPr sz="2200">
              <a:latin typeface="Times New Roman"/>
              <a:ea typeface="Times New Roman"/>
              <a:cs typeface="Times New Roman"/>
              <a:sym typeface="Times New Roman"/>
            </a:endParaRPr>
          </a:p>
          <a:p>
            <a:pPr marL="457200" lvl="0" indent="-457200" algn="l" rtl="0">
              <a:lnSpc>
                <a:spcPct val="90000"/>
              </a:lnSpc>
              <a:spcBef>
                <a:spcPts val="1000"/>
              </a:spcBef>
              <a:spcAft>
                <a:spcPts val="0"/>
              </a:spcAft>
              <a:buSzPct val="100000"/>
              <a:buFont typeface="Times New Roman"/>
              <a:buAutoNum type="arabicPeriod"/>
            </a:pPr>
            <a:r>
              <a:rPr lang="en-IN" sz="2200">
                <a:latin typeface="Times New Roman"/>
                <a:ea typeface="Times New Roman"/>
                <a:cs typeface="Times New Roman"/>
                <a:sym typeface="Times New Roman"/>
              </a:rPr>
              <a:t>Test with multiple languages and complete the full system with 3D-printed device design and full project integration.</a:t>
            </a:r>
            <a:endParaRPr sz="2200">
              <a:latin typeface="Times New Roman"/>
              <a:ea typeface="Times New Roman"/>
              <a:cs typeface="Times New Roman"/>
              <a:sym typeface="Times New Roman"/>
            </a:endParaRPr>
          </a:p>
        </p:txBody>
      </p:sp>
      <p:sp>
        <p:nvSpPr>
          <p:cNvPr id="239" name="Google Shape;239;p24"/>
          <p:cNvSpPr txBox="1"/>
          <p:nvPr/>
        </p:nvSpPr>
        <p:spPr>
          <a:xfrm>
            <a:off x="0" y="0"/>
            <a:ext cx="12192000" cy="1325700"/>
          </a:xfrm>
          <a:prstGeom prst="rect">
            <a:avLst/>
          </a:prstGeom>
          <a:solidFill>
            <a:srgbClr val="1F3864"/>
          </a:solidFill>
          <a:ln>
            <a:noFill/>
          </a:ln>
          <a:effectLst>
            <a:outerShdw blurRad="44450" dist="27940" dir="5400000" algn="ctr">
              <a:srgbClr val="000000">
                <a:alpha val="31372"/>
              </a:srgbClr>
            </a:outerShdw>
          </a:effectLst>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lt1"/>
              </a:buClr>
              <a:buSzPts val="4400"/>
              <a:buFont typeface="Times New Roman"/>
              <a:buNone/>
            </a:pPr>
            <a:r>
              <a:rPr lang="en-IN" sz="4400" b="0" i="0" u="none" strike="noStrike" cap="none">
                <a:solidFill>
                  <a:schemeClr val="lt1"/>
                </a:solidFill>
                <a:latin typeface="Times New Roman"/>
                <a:ea typeface="Times New Roman"/>
                <a:cs typeface="Times New Roman"/>
                <a:sym typeface="Times New Roman"/>
              </a:rPr>
              <a:t>  </a:t>
            </a:r>
            <a:r>
              <a:rPr lang="en-IN" sz="4800" b="1" i="0" u="none" strike="noStrike" cap="none">
                <a:solidFill>
                  <a:schemeClr val="lt1"/>
                </a:solidFill>
                <a:latin typeface="Times New Roman"/>
                <a:ea typeface="Times New Roman"/>
                <a:cs typeface="Times New Roman"/>
                <a:sym typeface="Times New Roman"/>
              </a:rPr>
              <a:t>Project Plan</a:t>
            </a:r>
            <a:endParaRPr sz="1400" b="1" i="0" u="none" strike="noStrike" cap="non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25"/>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IN"/>
              <a:t>Phase -1 Results</a:t>
            </a:r>
            <a:endParaRPr/>
          </a:p>
        </p:txBody>
      </p:sp>
      <p:sp>
        <p:nvSpPr>
          <p:cNvPr id="245" name="Google Shape;245;p25"/>
          <p:cNvSpPr txBox="1">
            <a:spLocks noGrp="1"/>
          </p:cNvSpPr>
          <p:nvPr>
            <p:ph type="body" idx="1"/>
          </p:nvPr>
        </p:nvSpPr>
        <p:spPr>
          <a:xfrm>
            <a:off x="838200" y="1825625"/>
            <a:ext cx="6051300" cy="43512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1000"/>
              </a:spcBef>
              <a:spcAft>
                <a:spcPts val="0"/>
              </a:spcAft>
              <a:buSzPts val="1800"/>
              <a:buNone/>
            </a:pPr>
            <a:endParaRPr/>
          </a:p>
        </p:txBody>
      </p:sp>
      <p:sp>
        <p:nvSpPr>
          <p:cNvPr id="246" name="Google Shape;246;p25"/>
          <p:cNvSpPr txBox="1"/>
          <p:nvPr/>
        </p:nvSpPr>
        <p:spPr>
          <a:xfrm>
            <a:off x="0" y="18255"/>
            <a:ext cx="12192000" cy="1325700"/>
          </a:xfrm>
          <a:prstGeom prst="rect">
            <a:avLst/>
          </a:prstGeom>
          <a:solidFill>
            <a:srgbClr val="1F3864"/>
          </a:solidFill>
          <a:ln>
            <a:noFill/>
          </a:ln>
          <a:effectLst>
            <a:outerShdw blurRad="44450" dist="27940" dir="5400000" algn="ctr">
              <a:srgbClr val="000000">
                <a:alpha val="31372"/>
              </a:srgbClr>
            </a:outerShdw>
          </a:effectLst>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lt1"/>
              </a:buClr>
              <a:buSzPts val="4400"/>
              <a:buFont typeface="Times New Roman"/>
              <a:buNone/>
            </a:pPr>
            <a:r>
              <a:rPr lang="en-IN" sz="4800" b="1" i="0" u="none" strike="noStrike" cap="none">
                <a:solidFill>
                  <a:schemeClr val="lt1"/>
                </a:solidFill>
                <a:latin typeface="Times New Roman"/>
                <a:ea typeface="Times New Roman"/>
                <a:cs typeface="Times New Roman"/>
                <a:sym typeface="Times New Roman"/>
              </a:rPr>
              <a:t>Hardware </a:t>
            </a:r>
            <a:endParaRPr sz="4800" b="1" i="0" u="none" strike="noStrike" cap="none">
              <a:solidFill>
                <a:schemeClr val="lt1"/>
              </a:solidFill>
              <a:latin typeface="Times New Roman"/>
              <a:ea typeface="Times New Roman"/>
              <a:cs typeface="Times New Roman"/>
              <a:sym typeface="Times New Roman"/>
            </a:endParaRPr>
          </a:p>
        </p:txBody>
      </p:sp>
      <p:pic>
        <p:nvPicPr>
          <p:cNvPr id="247" name="Google Shape;247;p25"/>
          <p:cNvPicPr preferRelativeResize="0"/>
          <p:nvPr/>
        </p:nvPicPr>
        <p:blipFill rotWithShape="1">
          <a:blip r:embed="rId3">
            <a:alphaModFix/>
          </a:blip>
          <a:srcRect/>
          <a:stretch/>
        </p:blipFill>
        <p:spPr>
          <a:xfrm>
            <a:off x="838200" y="1758375"/>
            <a:ext cx="6051174" cy="43512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26"/>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IN"/>
              <a:t>Phase -1 Results</a:t>
            </a:r>
            <a:endParaRPr/>
          </a:p>
        </p:txBody>
      </p:sp>
      <p:sp>
        <p:nvSpPr>
          <p:cNvPr id="253" name="Google Shape;253;p26"/>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1000"/>
              </a:spcBef>
              <a:spcAft>
                <a:spcPts val="0"/>
              </a:spcAft>
              <a:buSzPts val="1800"/>
              <a:buNone/>
            </a:pPr>
            <a:endParaRPr/>
          </a:p>
        </p:txBody>
      </p:sp>
      <p:pic>
        <p:nvPicPr>
          <p:cNvPr id="254" name="Google Shape;254;p26"/>
          <p:cNvPicPr preferRelativeResize="0"/>
          <p:nvPr/>
        </p:nvPicPr>
        <p:blipFill rotWithShape="1">
          <a:blip r:embed="rId3">
            <a:alphaModFix/>
          </a:blip>
          <a:srcRect/>
          <a:stretch/>
        </p:blipFill>
        <p:spPr>
          <a:xfrm>
            <a:off x="317000" y="1690825"/>
            <a:ext cx="5227500" cy="5032374"/>
          </a:xfrm>
          <a:prstGeom prst="rect">
            <a:avLst/>
          </a:prstGeom>
          <a:noFill/>
          <a:ln>
            <a:noFill/>
          </a:ln>
        </p:spPr>
      </p:pic>
      <p:pic>
        <p:nvPicPr>
          <p:cNvPr id="255" name="Google Shape;255;p26"/>
          <p:cNvPicPr preferRelativeResize="0"/>
          <p:nvPr/>
        </p:nvPicPr>
        <p:blipFill rotWithShape="1">
          <a:blip r:embed="rId4">
            <a:alphaModFix/>
          </a:blip>
          <a:srcRect/>
          <a:stretch/>
        </p:blipFill>
        <p:spPr>
          <a:xfrm>
            <a:off x="5809075" y="1690825"/>
            <a:ext cx="6053676" cy="5032374"/>
          </a:xfrm>
          <a:prstGeom prst="rect">
            <a:avLst/>
          </a:prstGeom>
          <a:noFill/>
          <a:ln>
            <a:noFill/>
          </a:ln>
        </p:spPr>
      </p:pic>
      <p:sp>
        <p:nvSpPr>
          <p:cNvPr id="256" name="Google Shape;256;p26"/>
          <p:cNvSpPr txBox="1"/>
          <p:nvPr/>
        </p:nvSpPr>
        <p:spPr>
          <a:xfrm>
            <a:off x="0" y="18255"/>
            <a:ext cx="12192000" cy="1325700"/>
          </a:xfrm>
          <a:prstGeom prst="rect">
            <a:avLst/>
          </a:prstGeom>
          <a:solidFill>
            <a:srgbClr val="1F3864"/>
          </a:solidFill>
          <a:ln>
            <a:noFill/>
          </a:ln>
          <a:effectLst>
            <a:outerShdw blurRad="44450" dist="27940" dir="5400000" algn="ctr">
              <a:srgbClr val="000000">
                <a:alpha val="31372"/>
              </a:srgbClr>
            </a:outerShdw>
          </a:effectLst>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lt1"/>
              </a:buClr>
              <a:buSzPts val="4400"/>
              <a:buFont typeface="Times New Roman"/>
              <a:buNone/>
            </a:pPr>
            <a:r>
              <a:rPr lang="en-IN" sz="4800" b="1" i="0" u="none" strike="noStrike" cap="none">
                <a:solidFill>
                  <a:schemeClr val="lt1"/>
                </a:solidFill>
                <a:latin typeface="Times New Roman"/>
                <a:ea typeface="Times New Roman"/>
                <a:cs typeface="Times New Roman"/>
                <a:sym typeface="Times New Roman"/>
              </a:rPr>
              <a:t>  </a:t>
            </a:r>
            <a:r>
              <a:rPr lang="en-IN" sz="4800" b="1" i="0" u="none" strike="noStrike" cap="none">
                <a:solidFill>
                  <a:schemeClr val="lt1"/>
                </a:solidFill>
                <a:latin typeface="Calibri"/>
                <a:ea typeface="Calibri"/>
                <a:cs typeface="Calibri"/>
                <a:sym typeface="Calibri"/>
              </a:rPr>
              <a:t>Phase -1 Results</a:t>
            </a:r>
            <a:endParaRPr sz="4800" b="1" i="0" u="none" strike="noStrike" cap="none">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2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IN"/>
              <a:t>Phase -1 Results</a:t>
            </a:r>
            <a:endParaRPr/>
          </a:p>
        </p:txBody>
      </p:sp>
      <p:sp>
        <p:nvSpPr>
          <p:cNvPr id="262" name="Google Shape;262;p27"/>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1000"/>
              </a:spcBef>
              <a:spcAft>
                <a:spcPts val="0"/>
              </a:spcAft>
              <a:buSzPts val="1800"/>
              <a:buNone/>
            </a:pPr>
            <a:endParaRPr/>
          </a:p>
        </p:txBody>
      </p:sp>
      <p:sp>
        <p:nvSpPr>
          <p:cNvPr id="263" name="Google Shape;263;p27"/>
          <p:cNvSpPr txBox="1"/>
          <p:nvPr/>
        </p:nvSpPr>
        <p:spPr>
          <a:xfrm>
            <a:off x="0" y="18255"/>
            <a:ext cx="12192000" cy="1325700"/>
          </a:xfrm>
          <a:prstGeom prst="rect">
            <a:avLst/>
          </a:prstGeom>
          <a:solidFill>
            <a:srgbClr val="1F3864"/>
          </a:solidFill>
          <a:ln>
            <a:noFill/>
          </a:ln>
          <a:effectLst>
            <a:outerShdw blurRad="44450" dist="27940" dir="5400000" algn="ctr">
              <a:srgbClr val="000000">
                <a:alpha val="31372"/>
              </a:srgbClr>
            </a:outerShdw>
          </a:effectLst>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lt1"/>
              </a:buClr>
              <a:buSzPts val="4400"/>
              <a:buFont typeface="Times New Roman"/>
              <a:buNone/>
            </a:pPr>
            <a:r>
              <a:rPr lang="en-IN" sz="4800" b="1" i="0" u="none" strike="noStrike" cap="none">
                <a:solidFill>
                  <a:schemeClr val="lt1"/>
                </a:solidFill>
                <a:latin typeface="Times New Roman"/>
                <a:ea typeface="Times New Roman"/>
                <a:cs typeface="Times New Roman"/>
                <a:sym typeface="Times New Roman"/>
              </a:rPr>
              <a:t>  </a:t>
            </a:r>
            <a:r>
              <a:rPr lang="en-IN" sz="4800" b="1" i="0" u="none" strike="noStrike" cap="none">
                <a:solidFill>
                  <a:schemeClr val="lt1"/>
                </a:solidFill>
                <a:latin typeface="Calibri"/>
                <a:ea typeface="Calibri"/>
                <a:cs typeface="Calibri"/>
                <a:sym typeface="Calibri"/>
              </a:rPr>
              <a:t>Phase -2 Results</a:t>
            </a:r>
            <a:endParaRPr sz="4800" b="1" i="0" u="none" strike="noStrike" cap="none">
              <a:solidFill>
                <a:schemeClr val="lt1"/>
              </a:solidFill>
              <a:latin typeface="Times New Roman"/>
              <a:ea typeface="Times New Roman"/>
              <a:cs typeface="Times New Roman"/>
              <a:sym typeface="Times New Roman"/>
            </a:endParaRPr>
          </a:p>
        </p:txBody>
      </p:sp>
      <p:pic>
        <p:nvPicPr>
          <p:cNvPr id="264" name="Google Shape;264;p27"/>
          <p:cNvPicPr preferRelativeResize="0"/>
          <p:nvPr/>
        </p:nvPicPr>
        <p:blipFill rotWithShape="1">
          <a:blip r:embed="rId3">
            <a:alphaModFix/>
          </a:blip>
          <a:srcRect/>
          <a:stretch/>
        </p:blipFill>
        <p:spPr>
          <a:xfrm>
            <a:off x="838200" y="1825625"/>
            <a:ext cx="4180200" cy="4797250"/>
          </a:xfrm>
          <a:prstGeom prst="rect">
            <a:avLst/>
          </a:prstGeom>
          <a:noFill/>
          <a:ln>
            <a:noFill/>
          </a:ln>
        </p:spPr>
      </p:pic>
      <p:pic>
        <p:nvPicPr>
          <p:cNvPr id="265" name="Google Shape;265;p27"/>
          <p:cNvPicPr preferRelativeResize="0"/>
          <p:nvPr/>
        </p:nvPicPr>
        <p:blipFill rotWithShape="1">
          <a:blip r:embed="rId4">
            <a:alphaModFix/>
          </a:blip>
          <a:srcRect/>
          <a:stretch/>
        </p:blipFill>
        <p:spPr>
          <a:xfrm>
            <a:off x="5190575" y="1795375"/>
            <a:ext cx="6286500" cy="48577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28"/>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IN"/>
              <a:t>Phase -1 Results</a:t>
            </a:r>
            <a:endParaRPr/>
          </a:p>
        </p:txBody>
      </p:sp>
      <p:sp>
        <p:nvSpPr>
          <p:cNvPr id="271" name="Google Shape;271;p28"/>
          <p:cNvSpPr txBox="1"/>
          <p:nvPr/>
        </p:nvSpPr>
        <p:spPr>
          <a:xfrm>
            <a:off x="0" y="18255"/>
            <a:ext cx="12192000" cy="1325700"/>
          </a:xfrm>
          <a:prstGeom prst="rect">
            <a:avLst/>
          </a:prstGeom>
          <a:solidFill>
            <a:srgbClr val="1F3864"/>
          </a:solidFill>
          <a:ln>
            <a:noFill/>
          </a:ln>
          <a:effectLst>
            <a:outerShdw blurRad="44450" dist="27940" dir="5400000" algn="ctr">
              <a:srgbClr val="000000">
                <a:alpha val="31372"/>
              </a:srgbClr>
            </a:outerShdw>
          </a:effectLst>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lt1"/>
              </a:buClr>
              <a:buSzPts val="4400"/>
              <a:buFont typeface="Times New Roman"/>
              <a:buNone/>
            </a:pPr>
            <a:r>
              <a:rPr lang="en-IN" sz="4800" b="1" i="0" u="none" strike="noStrike" cap="none">
                <a:solidFill>
                  <a:schemeClr val="lt1"/>
                </a:solidFill>
                <a:latin typeface="Times New Roman"/>
                <a:ea typeface="Times New Roman"/>
                <a:cs typeface="Times New Roman"/>
                <a:sym typeface="Times New Roman"/>
              </a:rPr>
              <a:t>3D Model Prototype </a:t>
            </a:r>
            <a:endParaRPr sz="4800" b="1" i="0" u="none" strike="noStrike" cap="none">
              <a:solidFill>
                <a:schemeClr val="lt1"/>
              </a:solidFill>
              <a:latin typeface="Times New Roman"/>
              <a:ea typeface="Times New Roman"/>
              <a:cs typeface="Times New Roman"/>
              <a:sym typeface="Times New Roman"/>
            </a:endParaRPr>
          </a:p>
        </p:txBody>
      </p:sp>
      <p:pic>
        <p:nvPicPr>
          <p:cNvPr id="272" name="Google Shape;272;p28"/>
          <p:cNvPicPr preferRelativeResize="0"/>
          <p:nvPr/>
        </p:nvPicPr>
        <p:blipFill rotWithShape="1">
          <a:blip r:embed="rId3">
            <a:alphaModFix/>
          </a:blip>
          <a:srcRect/>
          <a:stretch/>
        </p:blipFill>
        <p:spPr>
          <a:xfrm>
            <a:off x="0" y="1426128"/>
            <a:ext cx="12192000" cy="5431872"/>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29"/>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IN"/>
              <a:t>Phase -1 Results</a:t>
            </a:r>
            <a:endParaRPr/>
          </a:p>
        </p:txBody>
      </p:sp>
      <p:sp>
        <p:nvSpPr>
          <p:cNvPr id="278" name="Google Shape;278;p29"/>
          <p:cNvSpPr txBox="1"/>
          <p:nvPr/>
        </p:nvSpPr>
        <p:spPr>
          <a:xfrm>
            <a:off x="0" y="18255"/>
            <a:ext cx="12192000" cy="1325700"/>
          </a:xfrm>
          <a:prstGeom prst="rect">
            <a:avLst/>
          </a:prstGeom>
          <a:solidFill>
            <a:srgbClr val="1F3864"/>
          </a:solidFill>
          <a:ln>
            <a:noFill/>
          </a:ln>
          <a:effectLst>
            <a:outerShdw blurRad="44450" dist="27940" dir="5400000" algn="ctr">
              <a:srgbClr val="000000">
                <a:alpha val="31372"/>
              </a:srgbClr>
            </a:outerShdw>
          </a:effectLst>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lt1"/>
              </a:buClr>
              <a:buSzPts val="4400"/>
              <a:buFont typeface="Times New Roman"/>
              <a:buNone/>
            </a:pPr>
            <a:r>
              <a:rPr lang="en-IN" sz="4800" b="1" i="0" u="none" strike="noStrike" cap="none">
                <a:solidFill>
                  <a:schemeClr val="lt1"/>
                </a:solidFill>
                <a:latin typeface="Times New Roman"/>
                <a:ea typeface="Times New Roman"/>
                <a:cs typeface="Times New Roman"/>
                <a:sym typeface="Times New Roman"/>
              </a:rPr>
              <a:t>3D Model </a:t>
            </a:r>
            <a:endParaRPr sz="4800" b="1" i="0" u="none" strike="noStrike" cap="none">
              <a:solidFill>
                <a:schemeClr val="lt1"/>
              </a:solidFill>
              <a:latin typeface="Times New Roman"/>
              <a:ea typeface="Times New Roman"/>
              <a:cs typeface="Times New Roman"/>
              <a:sym typeface="Times New Roman"/>
            </a:endParaRPr>
          </a:p>
        </p:txBody>
      </p:sp>
      <p:pic>
        <p:nvPicPr>
          <p:cNvPr id="279" name="Google Shape;279;p29"/>
          <p:cNvPicPr preferRelativeResize="0"/>
          <p:nvPr/>
        </p:nvPicPr>
        <p:blipFill rotWithShape="1">
          <a:blip r:embed="rId3">
            <a:alphaModFix/>
          </a:blip>
          <a:srcRect/>
          <a:stretch/>
        </p:blipFill>
        <p:spPr>
          <a:xfrm>
            <a:off x="645955" y="1466596"/>
            <a:ext cx="4991448" cy="5373148"/>
          </a:xfrm>
          <a:prstGeom prst="rect">
            <a:avLst/>
          </a:prstGeom>
          <a:noFill/>
          <a:ln>
            <a:noFill/>
          </a:ln>
        </p:spPr>
      </p:pic>
      <p:pic>
        <p:nvPicPr>
          <p:cNvPr id="280" name="Google Shape;280;p29"/>
          <p:cNvPicPr preferRelativeResize="0"/>
          <p:nvPr/>
        </p:nvPicPr>
        <p:blipFill rotWithShape="1">
          <a:blip r:embed="rId4">
            <a:alphaModFix/>
          </a:blip>
          <a:srcRect/>
          <a:stretch/>
        </p:blipFill>
        <p:spPr>
          <a:xfrm>
            <a:off x="6554598" y="1466597"/>
            <a:ext cx="4799202" cy="5373147"/>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3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IN"/>
              <a:t>Conclusion</a:t>
            </a:r>
            <a:br>
              <a:rPr lang="en-IN"/>
            </a:br>
            <a:endParaRPr/>
          </a:p>
        </p:txBody>
      </p:sp>
      <p:sp>
        <p:nvSpPr>
          <p:cNvPr id="286" name="Google Shape;286;p30"/>
          <p:cNvSpPr txBox="1">
            <a:spLocks noGrp="1"/>
          </p:cNvSpPr>
          <p:nvPr>
            <p:ph type="body" idx="1"/>
          </p:nvPr>
        </p:nvSpPr>
        <p:spPr>
          <a:xfrm>
            <a:off x="838200" y="1825625"/>
            <a:ext cx="9608389" cy="4351338"/>
          </a:xfrm>
          <a:prstGeom prst="rect">
            <a:avLst/>
          </a:prstGeom>
          <a:noFill/>
          <a:ln>
            <a:noFill/>
          </a:ln>
        </p:spPr>
        <p:txBody>
          <a:bodyPr spcFirstLastPara="1" wrap="square" lIns="91425" tIns="45700" rIns="91425" bIns="45700" anchor="t" anchorCtr="0">
            <a:normAutofit/>
          </a:bodyPr>
          <a:lstStyle/>
          <a:p>
            <a:pPr marL="228600" lvl="0" indent="-228600" algn="just" rtl="0">
              <a:lnSpc>
                <a:spcPct val="150000"/>
              </a:lnSpc>
              <a:spcBef>
                <a:spcPts val="0"/>
              </a:spcBef>
              <a:spcAft>
                <a:spcPts val="0"/>
              </a:spcAft>
              <a:buClr>
                <a:schemeClr val="dk1"/>
              </a:buClr>
              <a:buSzPts val="2000"/>
              <a:buChar char="•"/>
            </a:pPr>
            <a:r>
              <a:rPr lang="en-IN" sz="2000">
                <a:latin typeface="Times New Roman"/>
                <a:ea typeface="Times New Roman"/>
                <a:cs typeface="Times New Roman"/>
                <a:sym typeface="Times New Roman"/>
              </a:rPr>
              <a:t>The project is a low-cost, portable assistive system for visually impaired users. It captures printed text, translates it into the preferred language, and provides offline speech output. This enhances independence, accessibility, and ease of learning in daily life.</a:t>
            </a:r>
            <a:endParaRPr sz="2000">
              <a:latin typeface="Times New Roman"/>
              <a:ea typeface="Times New Roman"/>
              <a:cs typeface="Times New Roman"/>
              <a:sym typeface="Times New Roman"/>
            </a:endParaRPr>
          </a:p>
        </p:txBody>
      </p:sp>
      <p:sp>
        <p:nvSpPr>
          <p:cNvPr id="287" name="Google Shape;287;p30"/>
          <p:cNvSpPr txBox="1"/>
          <p:nvPr/>
        </p:nvSpPr>
        <p:spPr>
          <a:xfrm>
            <a:off x="0" y="18255"/>
            <a:ext cx="12192000" cy="1325563"/>
          </a:xfrm>
          <a:prstGeom prst="rect">
            <a:avLst/>
          </a:prstGeom>
          <a:solidFill>
            <a:srgbClr val="1F3864"/>
          </a:solidFill>
          <a:ln>
            <a:noFill/>
          </a:ln>
          <a:effectLst>
            <a:outerShdw blurRad="44450" dist="27940" dir="5400000" algn="ctr">
              <a:srgbClr val="000000">
                <a:alpha val="31372"/>
              </a:srgbClr>
            </a:outerShdw>
          </a:effectLst>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lt1"/>
              </a:buClr>
              <a:buSzPts val="4400"/>
              <a:buFont typeface="Times New Roman"/>
              <a:buNone/>
            </a:pPr>
            <a:r>
              <a:rPr lang="en-IN" sz="4400" b="0" i="0" u="none" strike="noStrike" cap="none">
                <a:solidFill>
                  <a:schemeClr val="lt1"/>
                </a:solidFill>
                <a:latin typeface="Times New Roman"/>
                <a:ea typeface="Times New Roman"/>
                <a:cs typeface="Times New Roman"/>
                <a:sym typeface="Times New Roman"/>
              </a:rPr>
              <a:t>  </a:t>
            </a:r>
            <a:r>
              <a:rPr lang="en-IN" sz="4800" b="1" i="0" u="none" strike="noStrike" cap="none">
                <a:solidFill>
                  <a:schemeClr val="lt1"/>
                </a:solidFill>
                <a:latin typeface="Times New Roman"/>
                <a:ea typeface="Times New Roman"/>
                <a:cs typeface="Times New Roman"/>
                <a:sym typeface="Times New Roman"/>
              </a:rPr>
              <a:t>Conclusion</a:t>
            </a:r>
            <a:endParaRPr sz="1400" b="1" i="0" u="none" strike="noStrike" cap="none">
              <a:solidFill>
                <a:srgbClr val="00000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31"/>
          <p:cNvSpPr txBox="1">
            <a:spLocks noGrp="1"/>
          </p:cNvSpPr>
          <p:nvPr>
            <p:ph type="title"/>
          </p:nvPr>
        </p:nvSpPr>
        <p:spPr>
          <a:xfrm>
            <a:off x="838199" y="244355"/>
            <a:ext cx="10515600" cy="670045"/>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ct val="100000"/>
              <a:buFont typeface="Calibri"/>
              <a:buNone/>
            </a:pPr>
            <a:endParaRPr b="1">
              <a:solidFill>
                <a:srgbClr val="C55A11"/>
              </a:solidFill>
              <a:latin typeface="Times New Roman"/>
              <a:ea typeface="Times New Roman"/>
              <a:cs typeface="Times New Roman"/>
              <a:sym typeface="Times New Roman"/>
            </a:endParaRPr>
          </a:p>
        </p:txBody>
      </p:sp>
      <p:sp>
        <p:nvSpPr>
          <p:cNvPr id="293" name="Google Shape;293;p31"/>
          <p:cNvSpPr txBox="1"/>
          <p:nvPr/>
        </p:nvSpPr>
        <p:spPr>
          <a:xfrm>
            <a:off x="0" y="-10894"/>
            <a:ext cx="12192000" cy="1325563"/>
          </a:xfrm>
          <a:prstGeom prst="rect">
            <a:avLst/>
          </a:prstGeom>
          <a:solidFill>
            <a:srgbClr val="1F3864"/>
          </a:solidFill>
          <a:ln>
            <a:noFill/>
          </a:ln>
          <a:effectLst>
            <a:outerShdw blurRad="44450" dist="27940" dir="5400000" algn="ctr">
              <a:srgbClr val="000000">
                <a:alpha val="31372"/>
              </a:srgbClr>
            </a:outerShdw>
          </a:effectLst>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lt1"/>
              </a:buClr>
              <a:buSzPts val="4400"/>
              <a:buFont typeface="Times New Roman"/>
              <a:buNone/>
            </a:pPr>
            <a:r>
              <a:rPr lang="en-IN" sz="4400" b="1" i="0" u="none" strike="noStrike" cap="none">
                <a:solidFill>
                  <a:schemeClr val="lt1"/>
                </a:solidFill>
                <a:latin typeface="Times New Roman"/>
                <a:ea typeface="Times New Roman"/>
                <a:cs typeface="Times New Roman"/>
                <a:sym typeface="Times New Roman"/>
              </a:rPr>
              <a:t>  </a:t>
            </a:r>
            <a:r>
              <a:rPr lang="en-IN" sz="4800" b="1" i="0" u="none" strike="noStrike" cap="none">
                <a:solidFill>
                  <a:schemeClr val="lt1"/>
                </a:solidFill>
                <a:latin typeface="Times New Roman"/>
                <a:ea typeface="Times New Roman"/>
                <a:cs typeface="Times New Roman"/>
                <a:sym typeface="Times New Roman"/>
              </a:rPr>
              <a:t>References</a:t>
            </a:r>
            <a:endParaRPr sz="4400" b="0" i="0" u="none" strike="noStrike" cap="none">
              <a:solidFill>
                <a:schemeClr val="lt1"/>
              </a:solidFill>
              <a:latin typeface="Times New Roman"/>
              <a:ea typeface="Times New Roman"/>
              <a:cs typeface="Times New Roman"/>
              <a:sym typeface="Times New Roman"/>
            </a:endParaRPr>
          </a:p>
        </p:txBody>
      </p:sp>
      <p:sp>
        <p:nvSpPr>
          <p:cNvPr id="294" name="Google Shape;294;p31"/>
          <p:cNvSpPr txBox="1">
            <a:spLocks noGrp="1"/>
          </p:cNvSpPr>
          <p:nvPr>
            <p:ph type="body" idx="1"/>
          </p:nvPr>
        </p:nvSpPr>
        <p:spPr>
          <a:xfrm>
            <a:off x="423500" y="1314675"/>
            <a:ext cx="11203800" cy="4987200"/>
          </a:xfrm>
          <a:prstGeom prst="rect">
            <a:avLst/>
          </a:prstGeom>
          <a:noFill/>
          <a:ln>
            <a:noFill/>
          </a:ln>
        </p:spPr>
        <p:txBody>
          <a:bodyPr spcFirstLastPara="1" wrap="square" lIns="91425" tIns="45700" rIns="91425" bIns="45700" anchor="ctr" anchorCtr="0">
            <a:spAutoFit/>
          </a:bodyPr>
          <a:lstStyle/>
          <a:p>
            <a:pPr marL="228600" lvl="0" indent="-228600" algn="l" rtl="0">
              <a:lnSpc>
                <a:spcPct val="100000"/>
              </a:lnSpc>
              <a:spcBef>
                <a:spcPts val="0"/>
              </a:spcBef>
              <a:spcAft>
                <a:spcPts val="0"/>
              </a:spcAft>
              <a:buClr>
                <a:schemeClr val="dk1"/>
              </a:buClr>
              <a:buSzPts val="2000"/>
              <a:buFont typeface="Times New Roman"/>
              <a:buChar char="•"/>
            </a:pPr>
            <a:r>
              <a:rPr lang="en-IN" sz="2000">
                <a:latin typeface="Times New Roman"/>
                <a:ea typeface="Times New Roman"/>
                <a:cs typeface="Times New Roman"/>
                <a:sym typeface="Times New Roman"/>
              </a:rPr>
              <a:t>2014 Published by Elsevier Ltd. This is an open access article under the CC BY-NC-ND license (</a:t>
            </a:r>
            <a:r>
              <a:rPr lang="en-IN" sz="2000" u="sng">
                <a:solidFill>
                  <a:schemeClr val="hlink"/>
                </a:solidFill>
                <a:latin typeface="Times New Roman"/>
                <a:ea typeface="Times New Roman"/>
                <a:cs typeface="Times New Roman"/>
                <a:sym typeface="Times New Roman"/>
                <a:hlinkClick r:id="rId3"/>
              </a:rPr>
              <a:t>http://creativecommons.org/licenses/by-nc-nd/3.0/)</a:t>
            </a:r>
            <a:endParaRPr sz="2000">
              <a:latin typeface="Times New Roman"/>
              <a:ea typeface="Times New Roman"/>
              <a:cs typeface="Times New Roman"/>
              <a:sym typeface="Times New Roman"/>
            </a:endParaRPr>
          </a:p>
          <a:p>
            <a:pPr marL="228600" lvl="0" indent="-228600" algn="l" rtl="0">
              <a:lnSpc>
                <a:spcPct val="100000"/>
              </a:lnSpc>
              <a:spcBef>
                <a:spcPts val="1000"/>
              </a:spcBef>
              <a:spcAft>
                <a:spcPts val="0"/>
              </a:spcAft>
              <a:buClr>
                <a:schemeClr val="dk1"/>
              </a:buClr>
              <a:buSzPts val="2000"/>
              <a:buFont typeface="Times New Roman"/>
              <a:buChar char="•"/>
            </a:pPr>
            <a:r>
              <a:rPr lang="en-IN" sz="2000">
                <a:latin typeface="Times New Roman"/>
                <a:ea typeface="Times New Roman"/>
                <a:cs typeface="Times New Roman"/>
                <a:sym typeface="Times New Roman"/>
              </a:rPr>
              <a:t>Daxiang Dong, Hua Wu, Wei He, Dianhai Yu and Haifeng Wang Baidu Inc, Beijing, China {dongdaxiang, wu hua, hewei06, yudianhai, </a:t>
            </a:r>
            <a:r>
              <a:rPr lang="en-IN" sz="2000" u="sng">
                <a:solidFill>
                  <a:schemeClr val="hlink"/>
                </a:solidFill>
                <a:latin typeface="Times New Roman"/>
                <a:ea typeface="Times New Roman"/>
                <a:cs typeface="Times New Roman"/>
                <a:sym typeface="Times New Roman"/>
                <a:hlinkClick r:id="rId4"/>
              </a:rPr>
              <a:t>wanghaifeng}@baidu.com</a:t>
            </a:r>
            <a:endParaRPr sz="2000">
              <a:latin typeface="Times New Roman"/>
              <a:ea typeface="Times New Roman"/>
              <a:cs typeface="Times New Roman"/>
              <a:sym typeface="Times New Roman"/>
            </a:endParaRPr>
          </a:p>
          <a:p>
            <a:pPr marL="228600" lvl="0" indent="-228600" algn="l" rtl="0">
              <a:lnSpc>
                <a:spcPct val="100000"/>
              </a:lnSpc>
              <a:spcBef>
                <a:spcPts val="1000"/>
              </a:spcBef>
              <a:spcAft>
                <a:spcPts val="0"/>
              </a:spcAft>
              <a:buClr>
                <a:schemeClr val="dk1"/>
              </a:buClr>
              <a:buSzPts val="2000"/>
              <a:buFont typeface="Times New Roman"/>
              <a:buChar char="•"/>
            </a:pPr>
            <a:r>
              <a:rPr lang="en-IN" sz="2000" u="sng">
                <a:solidFill>
                  <a:schemeClr val="hlink"/>
                </a:solidFill>
                <a:latin typeface="Times New Roman"/>
                <a:ea typeface="Times New Roman"/>
                <a:cs typeface="Times New Roman"/>
                <a:sym typeface="Times New Roman"/>
                <a:hlinkClick r:id="rId5"/>
              </a:rPr>
              <a:t>https://doi.org/10.3991/ijim.v15i19.24139</a:t>
            </a:r>
            <a:r>
              <a:rPr lang="en-IN" sz="2000">
                <a:latin typeface="Times New Roman"/>
                <a:ea typeface="Times New Roman"/>
                <a:cs typeface="Times New Roman"/>
                <a:sym typeface="Times New Roman"/>
              </a:rPr>
              <a:t> Norharyati Harum(), Nur’aliah Izzati M. S. K, Nurul A. Emran, Noraswaliza Abdullah, Nurul Azma Zakaria, Erman Hamid, Syarulnaziah Anawar University Teknikal Malaysia Melaka, Durian Tunggal, Malaysia </a:t>
            </a:r>
            <a:endParaRPr>
              <a:latin typeface="Times New Roman"/>
              <a:ea typeface="Times New Roman"/>
              <a:cs typeface="Times New Roman"/>
              <a:sym typeface="Times New Roman"/>
            </a:endParaRPr>
          </a:p>
          <a:p>
            <a:pPr marL="228600" lvl="0" indent="-228600" algn="l" rtl="0">
              <a:lnSpc>
                <a:spcPct val="100000"/>
              </a:lnSpc>
              <a:spcBef>
                <a:spcPts val="1000"/>
              </a:spcBef>
              <a:spcAft>
                <a:spcPts val="0"/>
              </a:spcAft>
              <a:buClr>
                <a:schemeClr val="dk1"/>
              </a:buClr>
              <a:buSzPts val="2000"/>
              <a:buFont typeface="Times New Roman"/>
              <a:buChar char="•"/>
            </a:pPr>
            <a:r>
              <a:rPr lang="en-IN" sz="2000">
                <a:latin typeface="Times New Roman"/>
                <a:ea typeface="Times New Roman"/>
                <a:cs typeface="Times New Roman"/>
                <a:sym typeface="Times New Roman"/>
              </a:rPr>
              <a:t>2020 The Authors. Published by ELSEVIER B.V.  This is an open access article under the CC BY-NC-ND license </a:t>
            </a:r>
            <a:r>
              <a:rPr lang="en-IN" sz="2000" u="sng">
                <a:solidFill>
                  <a:schemeClr val="hlink"/>
                </a:solidFill>
                <a:latin typeface="Times New Roman"/>
                <a:ea typeface="Times New Roman"/>
                <a:cs typeface="Times New Roman"/>
                <a:sym typeface="Times New Roman"/>
                <a:hlinkClick r:id="rId3"/>
              </a:rPr>
              <a:t>https://creativecommons.org/licenses/by-nc-nd/4.</a:t>
            </a:r>
            <a:endParaRPr sz="2000">
              <a:latin typeface="Times New Roman"/>
              <a:ea typeface="Times New Roman"/>
              <a:cs typeface="Times New Roman"/>
              <a:sym typeface="Times New Roman"/>
            </a:endParaRPr>
          </a:p>
          <a:p>
            <a:pPr marL="228600" lvl="0" indent="-228600" algn="l" rtl="0">
              <a:lnSpc>
                <a:spcPct val="100000"/>
              </a:lnSpc>
              <a:spcBef>
                <a:spcPts val="1000"/>
              </a:spcBef>
              <a:spcAft>
                <a:spcPts val="0"/>
              </a:spcAft>
              <a:buSzPts val="2000"/>
              <a:buFont typeface="Times New Roman"/>
              <a:buChar char="•"/>
            </a:pPr>
            <a:r>
              <a:rPr lang="en-IN" sz="2000">
                <a:latin typeface="Times New Roman"/>
                <a:ea typeface="Times New Roman"/>
                <a:cs typeface="Times New Roman"/>
                <a:sym typeface="Times New Roman"/>
              </a:rPr>
              <a:t>Image Text To Speech Conversion In The Desired Language By Translating With Raspberry Pi </a:t>
            </a:r>
            <a:endParaRPr sz="2000">
              <a:latin typeface="Times New Roman"/>
              <a:ea typeface="Times New Roman"/>
              <a:cs typeface="Times New Roman"/>
              <a:sym typeface="Times New Roman"/>
            </a:endParaRPr>
          </a:p>
          <a:p>
            <a:pPr marL="0" lvl="0" indent="457200" algn="l" rtl="0">
              <a:lnSpc>
                <a:spcPct val="115000"/>
              </a:lnSpc>
              <a:spcBef>
                <a:spcPts val="400"/>
              </a:spcBef>
              <a:spcAft>
                <a:spcPts val="0"/>
              </a:spcAft>
              <a:buSzPts val="1800"/>
              <a:buNone/>
            </a:pPr>
            <a:r>
              <a:rPr lang="en-IN" sz="2000" u="sng">
                <a:solidFill>
                  <a:schemeClr val="hlink"/>
                </a:solidFill>
                <a:latin typeface="Times New Roman"/>
                <a:ea typeface="Times New Roman"/>
                <a:cs typeface="Times New Roman"/>
                <a:sym typeface="Times New Roman"/>
                <a:hlinkClick r:id="rId6"/>
              </a:rPr>
              <a:t>https://ieeexplore.ieee.org/abstract/document/7919526</a:t>
            </a:r>
            <a:endParaRPr sz="2000">
              <a:latin typeface="Times New Roman"/>
              <a:ea typeface="Times New Roman"/>
              <a:cs typeface="Times New Roman"/>
              <a:sym typeface="Times New Roman"/>
            </a:endParaRPr>
          </a:p>
          <a:p>
            <a:pPr marL="228600" lvl="0" indent="-228600" algn="l" rtl="0">
              <a:lnSpc>
                <a:spcPct val="100000"/>
              </a:lnSpc>
              <a:spcBef>
                <a:spcPts val="1200"/>
              </a:spcBef>
              <a:spcAft>
                <a:spcPts val="0"/>
              </a:spcAft>
              <a:buSzPts val="2000"/>
              <a:buFont typeface="Times New Roman"/>
              <a:buChar char="•"/>
            </a:pPr>
            <a:r>
              <a:rPr lang="en-IN" sz="2000">
                <a:latin typeface="Times New Roman"/>
                <a:ea typeface="Times New Roman"/>
                <a:cs typeface="Times New Roman"/>
                <a:sym typeface="Times New Roman"/>
              </a:rPr>
              <a:t>A Text Reader for the Visually Impaired using Raspberry Pi </a:t>
            </a:r>
            <a:endParaRPr sz="2000">
              <a:latin typeface="Times New Roman"/>
              <a:ea typeface="Times New Roman"/>
              <a:cs typeface="Times New Roman"/>
              <a:sym typeface="Times New Roman"/>
            </a:endParaRPr>
          </a:p>
          <a:p>
            <a:pPr marL="457200" lvl="0" indent="0" algn="l" rtl="0">
              <a:lnSpc>
                <a:spcPct val="100000"/>
              </a:lnSpc>
              <a:spcBef>
                <a:spcPts val="1000"/>
              </a:spcBef>
              <a:spcAft>
                <a:spcPts val="0"/>
              </a:spcAft>
              <a:buSzPts val="1800"/>
              <a:buNone/>
            </a:pPr>
            <a:r>
              <a:rPr lang="en-IN" sz="2000" u="sng">
                <a:solidFill>
                  <a:schemeClr val="hlink"/>
                </a:solidFill>
                <a:latin typeface="Times New Roman"/>
                <a:ea typeface="Times New Roman"/>
                <a:cs typeface="Times New Roman"/>
                <a:sym typeface="Times New Roman"/>
                <a:hlinkClick r:id="rId7"/>
              </a:rPr>
              <a:t>https://ieeexplore.ieee.org/abstract/document/8487513</a:t>
            </a:r>
            <a:endParaRPr sz="2000">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32"/>
          <p:cNvSpPr txBox="1">
            <a:spLocks noGrp="1"/>
          </p:cNvSpPr>
          <p:nvPr>
            <p:ph type="title"/>
          </p:nvPr>
        </p:nvSpPr>
        <p:spPr>
          <a:xfrm>
            <a:off x="838199" y="244355"/>
            <a:ext cx="10515600" cy="6699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ct val="100000"/>
              <a:buFont typeface="Calibri"/>
              <a:buNone/>
            </a:pPr>
            <a:endParaRPr b="1">
              <a:solidFill>
                <a:srgbClr val="C55A11"/>
              </a:solidFill>
              <a:latin typeface="Times New Roman"/>
              <a:ea typeface="Times New Roman"/>
              <a:cs typeface="Times New Roman"/>
              <a:sym typeface="Times New Roman"/>
            </a:endParaRPr>
          </a:p>
        </p:txBody>
      </p:sp>
      <p:sp>
        <p:nvSpPr>
          <p:cNvPr id="300" name="Google Shape;300;p32"/>
          <p:cNvSpPr txBox="1"/>
          <p:nvPr/>
        </p:nvSpPr>
        <p:spPr>
          <a:xfrm>
            <a:off x="0" y="-10894"/>
            <a:ext cx="12192000" cy="1325700"/>
          </a:xfrm>
          <a:prstGeom prst="rect">
            <a:avLst/>
          </a:prstGeom>
          <a:solidFill>
            <a:srgbClr val="1F3864"/>
          </a:solidFill>
          <a:ln>
            <a:noFill/>
          </a:ln>
          <a:effectLst>
            <a:outerShdw blurRad="44450" dist="27940" dir="5400000" algn="ctr">
              <a:srgbClr val="000000">
                <a:alpha val="31372"/>
              </a:srgbClr>
            </a:outerShdw>
          </a:effectLst>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lt1"/>
              </a:buClr>
              <a:buSzPts val="4400"/>
              <a:buFont typeface="Times New Roman"/>
              <a:buNone/>
            </a:pPr>
            <a:r>
              <a:rPr lang="en-IN" sz="4400" b="1" i="0" u="none" strike="noStrike" cap="none">
                <a:solidFill>
                  <a:schemeClr val="lt1"/>
                </a:solidFill>
                <a:latin typeface="Times New Roman"/>
                <a:ea typeface="Times New Roman"/>
                <a:cs typeface="Times New Roman"/>
                <a:sym typeface="Times New Roman"/>
              </a:rPr>
              <a:t>  </a:t>
            </a:r>
            <a:r>
              <a:rPr lang="en-IN" sz="4800" b="1" i="0" u="none" strike="noStrike" cap="none">
                <a:solidFill>
                  <a:schemeClr val="lt1"/>
                </a:solidFill>
                <a:latin typeface="Times New Roman"/>
                <a:ea typeface="Times New Roman"/>
                <a:cs typeface="Times New Roman"/>
                <a:sym typeface="Times New Roman"/>
              </a:rPr>
              <a:t>References</a:t>
            </a:r>
            <a:endParaRPr sz="4400" b="0" i="0" u="none" strike="noStrike" cap="none">
              <a:solidFill>
                <a:schemeClr val="lt1"/>
              </a:solidFill>
              <a:latin typeface="Times New Roman"/>
              <a:ea typeface="Times New Roman"/>
              <a:cs typeface="Times New Roman"/>
              <a:sym typeface="Times New Roman"/>
            </a:endParaRPr>
          </a:p>
        </p:txBody>
      </p:sp>
      <p:sp>
        <p:nvSpPr>
          <p:cNvPr id="301" name="Google Shape;301;p32"/>
          <p:cNvSpPr txBox="1">
            <a:spLocks noGrp="1"/>
          </p:cNvSpPr>
          <p:nvPr>
            <p:ph type="body" idx="1"/>
          </p:nvPr>
        </p:nvSpPr>
        <p:spPr>
          <a:xfrm>
            <a:off x="423500" y="1314675"/>
            <a:ext cx="11203800" cy="4592100"/>
          </a:xfrm>
          <a:prstGeom prst="rect">
            <a:avLst/>
          </a:prstGeom>
          <a:noFill/>
          <a:ln>
            <a:noFill/>
          </a:ln>
        </p:spPr>
        <p:txBody>
          <a:bodyPr spcFirstLastPara="1" wrap="square" lIns="91425" tIns="45700" rIns="91425" bIns="45700" anchor="ctr" anchorCtr="0">
            <a:spAutoFit/>
          </a:bodyPr>
          <a:lstStyle/>
          <a:p>
            <a:pPr marL="0" lvl="0" indent="0" algn="l" rtl="0">
              <a:lnSpc>
                <a:spcPct val="100000"/>
              </a:lnSpc>
              <a:spcBef>
                <a:spcPts val="0"/>
              </a:spcBef>
              <a:spcAft>
                <a:spcPts val="0"/>
              </a:spcAft>
              <a:buSzPts val="1800"/>
              <a:buNone/>
            </a:pPr>
            <a:endParaRPr sz="2000">
              <a:solidFill>
                <a:srgbClr val="333333"/>
              </a:solidFill>
              <a:highlight>
                <a:srgbClr val="FFFFFF"/>
              </a:highlight>
              <a:latin typeface="Times New Roman"/>
              <a:ea typeface="Times New Roman"/>
              <a:cs typeface="Times New Roman"/>
              <a:sym typeface="Times New Roman"/>
            </a:endParaRPr>
          </a:p>
          <a:p>
            <a:pPr marL="228600" lvl="0" indent="-228600" algn="l" rtl="0">
              <a:lnSpc>
                <a:spcPct val="100000"/>
              </a:lnSpc>
              <a:spcBef>
                <a:spcPts val="0"/>
              </a:spcBef>
              <a:spcAft>
                <a:spcPts val="0"/>
              </a:spcAft>
              <a:buClr>
                <a:srgbClr val="333333"/>
              </a:buClr>
              <a:buSzPts val="2000"/>
              <a:buFont typeface="Times New Roman"/>
              <a:buChar char="•"/>
            </a:pPr>
            <a:r>
              <a:rPr lang="en-IN" sz="2000">
                <a:latin typeface="Times New Roman"/>
                <a:ea typeface="Times New Roman"/>
                <a:cs typeface="Times New Roman"/>
                <a:sym typeface="Times New Roman"/>
              </a:rPr>
              <a:t> Vision Voice: A Raspberry Pi-based Text-to-Audio Converter for the Visually Impaired</a:t>
            </a:r>
            <a:endParaRPr sz="2000">
              <a:solidFill>
                <a:srgbClr val="333333"/>
              </a:solidFill>
              <a:highlight>
                <a:srgbClr val="FFFFFF"/>
              </a:highlight>
              <a:latin typeface="Times New Roman"/>
              <a:ea typeface="Times New Roman"/>
              <a:cs typeface="Times New Roman"/>
              <a:sym typeface="Times New Roman"/>
            </a:endParaRPr>
          </a:p>
          <a:p>
            <a:pPr marL="0" lvl="0" indent="457200" algn="l" rtl="0">
              <a:lnSpc>
                <a:spcPct val="115000"/>
              </a:lnSpc>
              <a:spcBef>
                <a:spcPts val="400"/>
              </a:spcBef>
              <a:spcAft>
                <a:spcPts val="0"/>
              </a:spcAft>
              <a:buSzPts val="1800"/>
              <a:buNone/>
            </a:pPr>
            <a:r>
              <a:rPr lang="en-IN" sz="2000" u="sng">
                <a:solidFill>
                  <a:schemeClr val="hlink"/>
                </a:solidFill>
                <a:latin typeface="Times New Roman"/>
                <a:ea typeface="Times New Roman"/>
                <a:cs typeface="Times New Roman"/>
                <a:sym typeface="Times New Roman"/>
                <a:hlinkClick r:id="rId3"/>
              </a:rPr>
              <a:t>https://ieeexplore.ieee.org/abstract/document/10664121</a:t>
            </a:r>
            <a:endParaRPr>
              <a:latin typeface="Times New Roman"/>
              <a:ea typeface="Times New Roman"/>
              <a:cs typeface="Times New Roman"/>
              <a:sym typeface="Times New Roman"/>
            </a:endParaRPr>
          </a:p>
          <a:p>
            <a:pPr marL="228600" lvl="0" indent="-228600" algn="l" rtl="0">
              <a:lnSpc>
                <a:spcPct val="100000"/>
              </a:lnSpc>
              <a:spcBef>
                <a:spcPts val="1200"/>
              </a:spcBef>
              <a:spcAft>
                <a:spcPts val="0"/>
              </a:spcAft>
              <a:buSzPts val="2000"/>
              <a:buFont typeface="Times New Roman"/>
              <a:buChar char="•"/>
            </a:pPr>
            <a:r>
              <a:rPr lang="en-IN" sz="2000">
                <a:latin typeface="Times New Roman"/>
                <a:ea typeface="Times New Roman"/>
                <a:cs typeface="Times New Roman"/>
                <a:sym typeface="Times New Roman"/>
              </a:rPr>
              <a:t>Regional Language Reading Aid for Blind People Using Raspberry Pi </a:t>
            </a:r>
            <a:endParaRPr sz="2000">
              <a:latin typeface="Times New Roman"/>
              <a:ea typeface="Times New Roman"/>
              <a:cs typeface="Times New Roman"/>
              <a:sym typeface="Times New Roman"/>
            </a:endParaRPr>
          </a:p>
          <a:p>
            <a:pPr marL="0" lvl="0" indent="0" algn="l" rtl="0">
              <a:lnSpc>
                <a:spcPct val="115000"/>
              </a:lnSpc>
              <a:spcBef>
                <a:spcPts val="400"/>
              </a:spcBef>
              <a:spcAft>
                <a:spcPts val="0"/>
              </a:spcAft>
              <a:buSzPts val="1800"/>
              <a:buNone/>
            </a:pPr>
            <a:r>
              <a:rPr lang="en-IN" sz="2000">
                <a:latin typeface="Times New Roman"/>
                <a:ea typeface="Times New Roman"/>
                <a:cs typeface="Times New Roman"/>
                <a:sym typeface="Times New Roman"/>
              </a:rPr>
              <a:t>   	</a:t>
            </a:r>
            <a:r>
              <a:rPr lang="en-IN" sz="2000" u="sng">
                <a:solidFill>
                  <a:schemeClr val="hlink"/>
                </a:solidFill>
                <a:latin typeface="Times New Roman"/>
                <a:ea typeface="Times New Roman"/>
                <a:cs typeface="Times New Roman"/>
                <a:sym typeface="Times New Roman"/>
                <a:hlinkClick r:id="rId4"/>
              </a:rPr>
              <a:t>https://ieeexplore.ieee.org/abstract/document/10991202</a:t>
            </a:r>
            <a:endParaRPr sz="2000">
              <a:latin typeface="Times New Roman"/>
              <a:ea typeface="Times New Roman"/>
              <a:cs typeface="Times New Roman"/>
              <a:sym typeface="Times New Roman"/>
            </a:endParaRPr>
          </a:p>
          <a:p>
            <a:pPr marL="228600" lvl="0" indent="-228600" algn="l" rtl="0">
              <a:lnSpc>
                <a:spcPct val="100000"/>
              </a:lnSpc>
              <a:spcBef>
                <a:spcPts val="1200"/>
              </a:spcBef>
              <a:spcAft>
                <a:spcPts val="0"/>
              </a:spcAft>
              <a:buSzPts val="2000"/>
              <a:buFont typeface="Times New Roman"/>
              <a:buChar char="•"/>
            </a:pPr>
            <a:r>
              <a:rPr lang="en-IN" sz="2000">
                <a:latin typeface="Times New Roman"/>
                <a:ea typeface="Times New Roman"/>
                <a:cs typeface="Times New Roman"/>
                <a:sym typeface="Times New Roman"/>
              </a:rPr>
              <a:t>Raspberry pi based Intelligent Reader for Visually Impaired Persons   </a:t>
            </a:r>
            <a:endParaRPr sz="2000">
              <a:latin typeface="Times New Roman"/>
              <a:ea typeface="Times New Roman"/>
              <a:cs typeface="Times New Roman"/>
              <a:sym typeface="Times New Roman"/>
            </a:endParaRPr>
          </a:p>
          <a:p>
            <a:pPr marL="457200" lvl="0" indent="0" algn="l" rtl="0">
              <a:lnSpc>
                <a:spcPct val="100000"/>
              </a:lnSpc>
              <a:spcBef>
                <a:spcPts val="0"/>
              </a:spcBef>
              <a:spcAft>
                <a:spcPts val="0"/>
              </a:spcAft>
              <a:buSzPts val="1800"/>
              <a:buNone/>
            </a:pPr>
            <a:r>
              <a:rPr lang="en-IN" sz="2000">
                <a:latin typeface="Times New Roman"/>
                <a:ea typeface="Times New Roman"/>
                <a:cs typeface="Times New Roman"/>
                <a:sym typeface="Times New Roman"/>
              </a:rPr>
              <a:t> </a:t>
            </a:r>
            <a:r>
              <a:rPr lang="en-IN" sz="2000" u="sng">
                <a:solidFill>
                  <a:schemeClr val="hlink"/>
                </a:solidFill>
                <a:latin typeface="Times New Roman"/>
                <a:ea typeface="Times New Roman"/>
                <a:cs typeface="Times New Roman"/>
                <a:sym typeface="Times New Roman"/>
                <a:hlinkClick r:id="rId5"/>
              </a:rPr>
              <a:t>https://ieeexplore.ieee.org/abstract/document/9074948</a:t>
            </a:r>
            <a:endParaRPr sz="2000" u="sng">
              <a:solidFill>
                <a:schemeClr val="hlink"/>
              </a:solidFill>
              <a:latin typeface="Times New Roman"/>
              <a:ea typeface="Times New Roman"/>
              <a:cs typeface="Times New Roman"/>
              <a:sym typeface="Times New Roman"/>
            </a:endParaRPr>
          </a:p>
          <a:p>
            <a:pPr marL="457200" lvl="0" indent="0" algn="l" rtl="0">
              <a:lnSpc>
                <a:spcPct val="100000"/>
              </a:lnSpc>
              <a:spcBef>
                <a:spcPts val="0"/>
              </a:spcBef>
              <a:spcAft>
                <a:spcPts val="0"/>
              </a:spcAft>
              <a:buSzPts val="1800"/>
              <a:buNone/>
            </a:pPr>
            <a:r>
              <a:rPr lang="en-IN"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a:p>
            <a:pPr marL="228600" lvl="0" indent="-228600" algn="l" rtl="0">
              <a:lnSpc>
                <a:spcPct val="100000"/>
              </a:lnSpc>
              <a:spcBef>
                <a:spcPts val="0"/>
              </a:spcBef>
              <a:spcAft>
                <a:spcPts val="0"/>
              </a:spcAft>
              <a:buSzPts val="2000"/>
              <a:buFont typeface="Times New Roman"/>
              <a:buChar char="•"/>
            </a:pPr>
            <a:r>
              <a:rPr lang="en-IN" sz="2000">
                <a:latin typeface="Times New Roman"/>
                <a:ea typeface="Times New Roman"/>
                <a:cs typeface="Times New Roman"/>
                <a:sym typeface="Times New Roman"/>
              </a:rPr>
              <a:t>Reading Aid and Translator with Raspbery Pi for Blind People</a:t>
            </a:r>
            <a:endParaRPr sz="2000">
              <a:latin typeface="Times New Roman"/>
              <a:ea typeface="Times New Roman"/>
              <a:cs typeface="Times New Roman"/>
              <a:sym typeface="Times New Roman"/>
            </a:endParaRPr>
          </a:p>
          <a:p>
            <a:pPr marL="0" lvl="0" indent="457200" algn="l" rtl="0">
              <a:lnSpc>
                <a:spcPct val="115000"/>
              </a:lnSpc>
              <a:spcBef>
                <a:spcPts val="400"/>
              </a:spcBef>
              <a:spcAft>
                <a:spcPts val="0"/>
              </a:spcAft>
              <a:buSzPts val="1800"/>
              <a:buNone/>
            </a:pPr>
            <a:r>
              <a:rPr lang="en-IN" sz="2000" u="sng">
                <a:solidFill>
                  <a:schemeClr val="hlink"/>
                </a:solidFill>
                <a:latin typeface="Times New Roman"/>
                <a:ea typeface="Times New Roman"/>
                <a:cs typeface="Times New Roman"/>
                <a:sym typeface="Times New Roman"/>
                <a:hlinkClick r:id="rId6"/>
              </a:rPr>
              <a:t>https://ieeexplore.ieee.org/abstract/document/10113042</a:t>
            </a:r>
            <a:endParaRPr sz="2000">
              <a:latin typeface="Times New Roman"/>
              <a:ea typeface="Times New Roman"/>
              <a:cs typeface="Times New Roman"/>
              <a:sym typeface="Times New Roman"/>
            </a:endParaRPr>
          </a:p>
          <a:p>
            <a:pPr marL="0" lvl="0" indent="0" algn="l" rtl="0">
              <a:lnSpc>
                <a:spcPct val="100000"/>
              </a:lnSpc>
              <a:spcBef>
                <a:spcPts val="1200"/>
              </a:spcBef>
              <a:spcAft>
                <a:spcPts val="0"/>
              </a:spcAft>
              <a:buSzPts val="1800"/>
              <a:buNone/>
            </a:pPr>
            <a:endParaRPr sz="2000">
              <a:latin typeface="Arial"/>
              <a:ea typeface="Arial"/>
              <a:cs typeface="Arial"/>
              <a:sym typeface="Arial"/>
            </a:endParaRPr>
          </a:p>
          <a:p>
            <a:pPr marL="0" lvl="0" indent="457200" algn="l" rtl="0">
              <a:lnSpc>
                <a:spcPct val="115000"/>
              </a:lnSpc>
              <a:spcBef>
                <a:spcPts val="400"/>
              </a:spcBef>
              <a:spcAft>
                <a:spcPts val="1200"/>
              </a:spcAft>
              <a:buClr>
                <a:schemeClr val="dk1"/>
              </a:buClr>
              <a:buSzPts val="1100"/>
              <a:buFont typeface="Arial"/>
              <a:buNone/>
            </a:pPr>
            <a:endParaRPr sz="20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05"/>
        <p:cNvGrpSpPr/>
        <p:nvPr/>
      </p:nvGrpSpPr>
      <p:grpSpPr>
        <a:xfrm>
          <a:off x="0" y="0"/>
          <a:ext cx="0" cy="0"/>
          <a:chOff x="0" y="0"/>
          <a:chExt cx="0" cy="0"/>
        </a:xfrm>
      </p:grpSpPr>
      <p:sp>
        <p:nvSpPr>
          <p:cNvPr id="306" name="Google Shape;306;p33"/>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7" name="Google Shape;307;p33"/>
          <p:cNvSpPr/>
          <p:nvPr/>
        </p:nvSpPr>
        <p:spPr>
          <a:xfrm rot="5400000" flipH="1">
            <a:off x="-638515" y="639280"/>
            <a:ext cx="6858000" cy="5579440"/>
          </a:xfrm>
          <a:prstGeom prst="rect">
            <a:avLst/>
          </a:prstGeom>
          <a:gradFill>
            <a:gsLst>
              <a:gs pos="0">
                <a:srgbClr val="000000"/>
              </a:gs>
              <a:gs pos="8000">
                <a:srgbClr val="000000"/>
              </a:gs>
              <a:gs pos="100000">
                <a:srgbClr val="2F5496"/>
              </a:gs>
            </a:gsLst>
            <a:lin ang="3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8" name="Google Shape;308;p33"/>
          <p:cNvSpPr/>
          <p:nvPr/>
        </p:nvSpPr>
        <p:spPr>
          <a:xfrm rot="5400000" flipH="1">
            <a:off x="-393206" y="395206"/>
            <a:ext cx="6346209" cy="5576080"/>
          </a:xfrm>
          <a:prstGeom prst="rect">
            <a:avLst/>
          </a:prstGeom>
          <a:gradFill>
            <a:gsLst>
              <a:gs pos="0">
                <a:srgbClr val="000000">
                  <a:alpha val="0"/>
                </a:srgbClr>
              </a:gs>
              <a:gs pos="99000">
                <a:srgbClr val="4472C4">
                  <a:alpha val="0"/>
                </a:srgbClr>
              </a:gs>
              <a:gs pos="100000">
                <a:srgbClr val="4472C4">
                  <a:alpha val="0"/>
                </a:srgbClr>
              </a:gs>
            </a:gsLst>
            <a:lin ang="1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9" name="Google Shape;309;p33"/>
          <p:cNvSpPr/>
          <p:nvPr/>
        </p:nvSpPr>
        <p:spPr>
          <a:xfrm rot="5400000" flipH="1">
            <a:off x="1528907" y="2818967"/>
            <a:ext cx="2501979" cy="5576080"/>
          </a:xfrm>
          <a:prstGeom prst="rect">
            <a:avLst/>
          </a:prstGeom>
          <a:gradFill>
            <a:gsLst>
              <a:gs pos="0">
                <a:srgbClr val="4472C4">
                  <a:alpha val="28235"/>
                </a:srgbClr>
              </a:gs>
              <a:gs pos="2000">
                <a:srgbClr val="4472C4">
                  <a:alpha val="28235"/>
                </a:srgbClr>
              </a:gs>
              <a:gs pos="100000">
                <a:srgbClr val="000000">
                  <a:alpha val="29411"/>
                </a:srgbClr>
              </a:gs>
            </a:gsLst>
            <a:lin ang="7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0" name="Google Shape;310;p33"/>
          <p:cNvSpPr/>
          <p:nvPr/>
        </p:nvSpPr>
        <p:spPr>
          <a:xfrm rot="5400000" flipH="1">
            <a:off x="-425002" y="852793"/>
            <a:ext cx="6858001" cy="5152412"/>
          </a:xfrm>
          <a:prstGeom prst="rect">
            <a:avLst/>
          </a:prstGeom>
          <a:gradFill>
            <a:gsLst>
              <a:gs pos="0">
                <a:srgbClr val="000000">
                  <a:alpha val="0"/>
                </a:srgbClr>
              </a:gs>
              <a:gs pos="99000">
                <a:srgbClr val="4472C4">
                  <a:alpha val="10588"/>
                </a:srgbClr>
              </a:gs>
              <a:gs pos="100000">
                <a:srgbClr val="4472C4">
                  <a:alpha val="10588"/>
                </a:srgbClr>
              </a:gs>
            </a:gsLst>
            <a:lin ang="7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1" name="Google Shape;311;p33"/>
          <p:cNvSpPr/>
          <p:nvPr/>
        </p:nvSpPr>
        <p:spPr>
          <a:xfrm rot="6097846">
            <a:off x="818753" y="1128497"/>
            <a:ext cx="4318303" cy="4318303"/>
          </a:xfrm>
          <a:prstGeom prst="ellipse">
            <a:avLst/>
          </a:prstGeom>
          <a:gradFill>
            <a:gsLst>
              <a:gs pos="0">
                <a:srgbClr val="4472C4">
                  <a:alpha val="0"/>
                </a:srgbClr>
              </a:gs>
              <a:gs pos="39000">
                <a:srgbClr val="4472C4">
                  <a:alpha val="0"/>
                </a:srgbClr>
              </a:gs>
              <a:gs pos="100000">
                <a:srgbClr val="8DA9DB">
                  <a:alpha val="14509"/>
                </a:srgbClr>
              </a:gs>
            </a:gsLst>
            <a:lin ang="17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2" name="Google Shape;312;p33"/>
          <p:cNvSpPr txBox="1">
            <a:spLocks noGrp="1"/>
          </p:cNvSpPr>
          <p:nvPr>
            <p:ph type="body" idx="1"/>
          </p:nvPr>
        </p:nvSpPr>
        <p:spPr>
          <a:xfrm>
            <a:off x="6503158" y="649480"/>
            <a:ext cx="5363722" cy="5546047"/>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7200"/>
              <a:buNone/>
            </a:pPr>
            <a:endParaRPr sz="7200" b="1"/>
          </a:p>
          <a:p>
            <a:pPr marL="0" lvl="0" indent="0" algn="l" rtl="0">
              <a:lnSpc>
                <a:spcPct val="90000"/>
              </a:lnSpc>
              <a:spcBef>
                <a:spcPts val="1000"/>
              </a:spcBef>
              <a:spcAft>
                <a:spcPts val="0"/>
              </a:spcAft>
              <a:buClr>
                <a:schemeClr val="dk1"/>
              </a:buClr>
              <a:buSzPts val="7200"/>
              <a:buNone/>
            </a:pPr>
            <a:r>
              <a:rPr lang="en-IN" sz="7200" b="1">
                <a:latin typeface="Times New Roman"/>
                <a:ea typeface="Times New Roman"/>
                <a:cs typeface="Times New Roman"/>
                <a:sym typeface="Times New Roman"/>
              </a:rPr>
              <a:t>Thank You!!</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2263</Words>
  <Application>Microsoft Office PowerPoint</Application>
  <PresentationFormat>Widescreen</PresentationFormat>
  <Paragraphs>393</Paragraphs>
  <Slides>33</Slides>
  <Notes>33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33</vt:i4>
      </vt:variant>
    </vt:vector>
  </HeadingPairs>
  <TitlesOfParts>
    <vt:vector size="37" baseType="lpstr">
      <vt:lpstr>Arial</vt:lpstr>
      <vt:lpstr>Calibri</vt:lpstr>
      <vt:lpstr>Times New Roman</vt:lpstr>
      <vt:lpstr>Office Theme</vt:lpstr>
      <vt:lpstr>PowerPoint Presentation</vt:lpstr>
      <vt:lpstr>PowerPoint Presentation</vt:lpstr>
      <vt:lpstr>PowerPoint Presentation</vt:lpstr>
      <vt:lpstr>PowerPoint Presentation</vt:lpstr>
      <vt:lpstr>  Literature Survey</vt:lpstr>
      <vt:lpstr>  Literature Survey</vt:lpstr>
      <vt:lpstr>  Literature Survey</vt:lpstr>
      <vt:lpstr>  Literature Survey</vt:lpstr>
      <vt:lpstr>  Literature Survey</vt:lpstr>
      <vt:lpstr>  Literature Survey</vt:lpstr>
      <vt:lpstr>  Literature Survey</vt:lpstr>
      <vt:lpstr>  Literature Survey</vt:lpstr>
      <vt:lpstr>  Literature Survey</vt:lpstr>
      <vt:lpstr>  Literature Survey</vt:lpstr>
      <vt:lpstr>          Summary of Literature Survey  </vt:lpstr>
      <vt:lpstr>PowerPoint Presentation</vt:lpstr>
      <vt:lpstr>   1. To implement an end-to-end system for blind users that captures printed text from books or documents using a camera, processes it with OCR (Optical Character Recognition).  2. To enable real-time translation of detected text from a foreign language into the user's preferred language before audio output. 3. To provide offline Text-to-Speech (TTS) functionality so that blind users can listen to content without needing internet access.  4. To design the system in a low-cost and portable manner, so that it can be used easily by blind students and common people.  5. To ensure multilingual support (e.g., Marathi, Hindi, English, French, etc.) for better accessibility. 6. To enhance usability and independence of visually impaired persons by reducing their dependency on others for reading and understanding printed text.    </vt:lpstr>
      <vt:lpstr>PowerPoint Presentation</vt:lpstr>
      <vt:lpstr>PowerPoint Presentation</vt:lpstr>
      <vt:lpstr> Component Selection - Board</vt:lpstr>
      <vt:lpstr>  Software Comparison</vt:lpstr>
      <vt:lpstr>  Software Comparison</vt:lpstr>
      <vt:lpstr>  Software Comparison</vt:lpstr>
      <vt:lpstr>PowerPoint Presentation</vt:lpstr>
      <vt:lpstr>Phase -1 Results</vt:lpstr>
      <vt:lpstr>Phase -1 Results</vt:lpstr>
      <vt:lpstr>Phase -1 Results</vt:lpstr>
      <vt:lpstr>Phase -1 Results</vt:lpstr>
      <vt:lpstr>Phase -1 Results</vt:lpstr>
      <vt:lpstr>Conclusion </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Nadim</dc:creator>
  <cp:lastModifiedBy>202402060010_ Durgesh Dahifale</cp:lastModifiedBy>
  <cp:revision>1</cp:revision>
  <dcterms:modified xsi:type="dcterms:W3CDTF">2026-07-01T17:31:15Z</dcterms:modified>
</cp:coreProperties>
</file>